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this is my DevOps capstone, StockPilot. The app itself is deliberately small, an inventory tracker. The point of the project is everything around it: how a change gets tested, scanned, built, deployed and watched. I’ll go through the slides first, then do a live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an inventory tracker: you add products, adjust stock, and it flags what needs reordering. Backend is FastAPI with PostgreSQL and Alembic migrations; the frontend is plain JavaScript built with Vite and served by Nginx. I kept the app small so the effort went into the platform: twelve tests at 96% coverage, an eleven-job pipeline, sixty-four AWS resources from Terraform, and fourteen faults I broke and fixed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flow. A push goes to GitHub, GitHub Actions runs the tests and every scanner, builds both images, tests them on a throwaway kind cluster and pushes them to GHCR with the commit SHA as the tag. Then the pipeline commits that tag into the GitOps folder. Argo CD, running inside the cluster, sees the commit and rolls it out. Nothing outside the cluster pushes to it. Prometheus, Grafana and Loki watch the result. The same Git repo drives my local kind cluster and EKS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stack, layer by layer. Everything is open source except the AWS services, and every tool version is pinned, including the third-party GitHub Actions, which are pinned to a commit SHA rather than a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on every pull request and every push to main. Stage one is seven checks running in parallel. The image build waits for all of them through needs, so if any check fails nothing gets built. Stage two builds both images and scans them with Trivy. Stage three installs the Helm chart on a throwaway kind cluster inside the runner and runs helm test. Only on main do the last two stages run: push the images to GHCR tagged with the commit SHA, and commit that tag into the GitOps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kinds of scanning, and every one of them blocks the build. The image scan fails on any HIGH or CRITICAL vulnerability that has a fix available. My first scan was clean on both images, so there was no CVE to fix, but I tested the gate on purpose: PR 7 added an old version of requests, pip-audit found six known vulnerabilities, and the pipeline stopped before building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AWS infrastructure is Terraform, using the community VPC and EKS modules. A VPC across two availability zones, nodes in the private subnets, one NAT gateway to keep the cost down. EKS 1.34 with a managed node group. My account is on the AWS Free plan, which doesn’t allow t3.medium, so the nodes are m7i-flex.large. The plan creates sixty-four resources. Before destroying, I delete the load balancer and EBS volumes that Kubernetes created, because Terraform doesn’t know about them. Then destroy removes all sixty-four.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the app needs in Kubernetes is in one Helm chart, with a values file per environment. Two replicas of the backend and the frontend, ClusterIP services, an Ingress that splits slash and slash-api, PostgreSQL as a StatefulSet with a persistent volume, a ConfigMap and a Secret, an autoscaler, three kinds of probes and a NetworkPolicy so only the backend can talk to the database. Under load the HPA scaled the backend from two pods to four and back down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pull-based. The pipeline never gets credentials for the cluster; it only commits the new image tag to Git. Argo CD runs inside the cluster, watches the repo and syncs. It’s an app-of-apps setup: one root app creates the four others. Because self-heal is on, any manual change gets reverted, so the way to roll back is a git revert. I tested that in scenario fourteen: a bad tag got merged, the app went Degraded, and the revert brought it back within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request rate, latency histograms, error counts and one business metric for inventory operations. Prometheus discovers it through a ServiceMonitor. The Grafana dashboard and the alert rules are part of the Helm chart, so every environment gets them automatically. Logs are JSON, collected by Alloy and stored in Loki, so I can search them from Grafana. This screenshot was taken during a load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broke the project fourteen times on purpose: ten Kubernetes faults on my kind cluster and four that go through GitHub and Argo CD. A few surprised me. With the wrong Secret key, fixing the manifest wasn’t enough, because a StatefulSet won’t replace a pod that never became Ready, so I had to delete it. The NetworkPolicy fault was hidden at first because existing database connections kept working. And the leaked token was caught twice, by Gitleaks and by ruff. Every one is written up with the real command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I’ll take away. First, a scanner that only reports gets ignored; it has to block the build. Second, Argo CD said Synced the whole time the bad tag was deployed, and it only showed Degraded ten minutes later, so health matters more than sync. Third, the load balancer and the EBS volumes were created by Kubernetes, not Terraform, so I had to delete them before terraform destroy could finish cleanly. The full list is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overview. Now I’ll switch to the live walkthrough in this order: the codebase, then I’ll push a small change and follow it through the pipeline, then Terraform and the AWS console, Argo CD picking up the new commit, the pods, services and ingress in Kubernetes, and finally Prometheus and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0192B"/>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3E4A5C"/>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0192B"/>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3E4A5C"/>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92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7A2E"/>
          </a:solidFill>
          <a:ln/>
        </p:spPr>
      </p:sp>
      <p:sp>
        <p:nvSpPr>
          <p:cNvPr id="3" name="Text 1"/>
          <p:cNvSpPr/>
          <p:nvPr/>
        </p:nvSpPr>
        <p:spPr>
          <a:xfrm>
            <a:off x="812800" y="1831975"/>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200" kern="0" dirty="0">
                <a:solidFill>
                  <a:srgbClr val="E07A2E"/>
                </a:solidFill>
                <a:latin typeface="Courier New" pitchFamily="49" charset="0"/>
                <a:ea typeface="Courier New" pitchFamily="49" charset="-122"/>
                <a:cs typeface="Courier New" pitchFamily="49" charset="-120"/>
              </a:rPr>
              <a:t>DEVOPS CAPSTONE</a:t>
            </a:r>
            <a:endParaRPr lang="en-US" sz="1600" dirty="0"/>
          </a:p>
        </p:txBody>
      </p:sp>
      <p:sp>
        <p:nvSpPr>
          <p:cNvPr id="4" name="Text 2"/>
          <p:cNvSpPr/>
          <p:nvPr>
            <p:ph type="title"/>
          </p:nvPr>
        </p:nvSpPr>
        <p:spPr>
          <a:xfrm>
            <a:off x="812800" y="2370435"/>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4F2EC"/>
                </a:solidFill>
                <a:latin typeface="Arial" pitchFamily="34" charset="0"/>
                <a:ea typeface="Arial" pitchFamily="34" charset="-122"/>
                <a:cs typeface="Arial" pitchFamily="34" charset="-120"/>
              </a:rPr>
              <a:t>StockPilot</a:t>
            </a:r>
            <a:endParaRPr lang="en-US" sz="8000" dirty="0"/>
          </a:p>
        </p:txBody>
      </p:sp>
      <p:sp>
        <p:nvSpPr>
          <p:cNvPr id="5" name="Text 3"/>
          <p:cNvSpPr/>
          <p:nvPr/>
        </p:nvSpPr>
        <p:spPr>
          <a:xfrm>
            <a:off x="812800" y="3691235"/>
            <a:ext cx="8502650" cy="115694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C9D3E0"/>
                </a:solidFill>
                <a:latin typeface="Arial" pitchFamily="34" charset="0"/>
                <a:ea typeface="Arial" pitchFamily="34" charset="-122"/>
                <a:cs typeface="Arial" pitchFamily="34" charset="-120"/>
              </a:rPr>
              <a:t>A small inventory app, delivered the way production software is: tested, scanned, containerised, deployed by GitOps and monitored.</a:t>
            </a:r>
            <a:endParaRPr lang="en-US" sz="22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B0"/>
                </a:solidFill>
                <a:latin typeface="Courier New" pitchFamily="49" charset="0"/>
                <a:ea typeface="Courier New" pitchFamily="49" charset="-122"/>
                <a:cs typeface="Courier New" pitchFamily="49" charset="-120"/>
              </a:rPr>
              <a:t>abdur-code · github.com/abdur-code/final-devops-project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92B"/>
                </a:solidFill>
                <a:latin typeface="Arial" pitchFamily="34" charset="0"/>
                <a:ea typeface="Arial" pitchFamily="34" charset="-122"/>
                <a:cs typeface="Arial" pitchFamily="34" charset="-120"/>
              </a:rPr>
              <a:t>What I built</a:t>
            </a:r>
            <a:endParaRPr lang="en-US" sz="3600" dirty="0"/>
          </a:p>
        </p:txBody>
      </p:sp>
      <p:sp>
        <p:nvSpPr>
          <p:cNvPr id="3" name="Text 1"/>
          <p:cNvSpPr/>
          <p:nvPr/>
        </p:nvSpPr>
        <p:spPr>
          <a:xfrm>
            <a:off x="812800" y="1671290"/>
            <a:ext cx="5206238" cy="12039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A5C"/>
                </a:solidFill>
                <a:latin typeface="Arial" pitchFamily="34" charset="0"/>
                <a:ea typeface="Arial" pitchFamily="34" charset="-122"/>
                <a:cs typeface="Arial" pitchFamily="34" charset="-120"/>
              </a:rPr>
              <a:t>StockPilot tracks products, stock levels and reorder points. It has a FastAPI backend, a PostgreSQL database managed with Alembic, and a small JavaScript frontend served by Nginx.</a:t>
            </a:r>
            <a:endParaRPr lang="en-US" sz="1600" dirty="0"/>
          </a:p>
        </p:txBody>
      </p:sp>
      <p:sp>
        <p:nvSpPr>
          <p:cNvPr id="4" name="Text 2"/>
          <p:cNvSpPr/>
          <p:nvPr/>
        </p:nvSpPr>
        <p:spPr>
          <a:xfrm>
            <a:off x="812800" y="3027611"/>
            <a:ext cx="5206238" cy="12039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A5C"/>
                </a:solidFill>
                <a:latin typeface="Arial" pitchFamily="34" charset="0"/>
                <a:ea typeface="Arial" pitchFamily="34" charset="-122"/>
                <a:cs typeface="Arial" pitchFamily="34" charset="-120"/>
              </a:rPr>
              <a:t>The app is kept simple on purpose. The work is in the delivery platform: every change is tested, scanned, built into an image tagged with its commit, and deployed to Kubernetes by Argo CD.</a:t>
            </a:r>
            <a:endParaRPr lang="en-US" sz="1600" dirty="0"/>
          </a:p>
        </p:txBody>
      </p:sp>
      <p:sp>
        <p:nvSpPr>
          <p:cNvPr id="5" name="Shape 3"/>
          <p:cNvSpPr/>
          <p:nvPr/>
        </p:nvSpPr>
        <p:spPr>
          <a:xfrm>
            <a:off x="6327775" y="1674465"/>
            <a:ext cx="2444750" cy="2104380"/>
          </a:xfrm>
          <a:prstGeom prst="roundRect">
            <a:avLst>
              <a:gd name="adj" fmla="val 4677"/>
            </a:avLst>
          </a:prstGeom>
          <a:solidFill>
            <a:srgbClr val="FFFFFF"/>
          </a:solidFill>
          <a:ln w="6350">
            <a:solidFill>
              <a:srgbClr val="E1DDD3"/>
            </a:solidFill>
            <a:prstDash val="solid"/>
          </a:ln>
        </p:spPr>
      </p:sp>
      <p:sp>
        <p:nvSpPr>
          <p:cNvPr id="6" name="Text 4"/>
          <p:cNvSpPr/>
          <p:nvPr/>
        </p:nvSpPr>
        <p:spPr>
          <a:xfrm>
            <a:off x="6559550" y="1906240"/>
            <a:ext cx="204063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5A12"/>
                </a:solidFill>
                <a:latin typeface="Arial" pitchFamily="34" charset="0"/>
                <a:ea typeface="Arial" pitchFamily="34" charset="-122"/>
                <a:cs typeface="Arial" pitchFamily="34" charset="-120"/>
              </a:rPr>
              <a:t>12</a:t>
            </a:r>
            <a:endParaRPr lang="en-US" sz="3600" dirty="0"/>
          </a:p>
        </p:txBody>
      </p:sp>
      <p:sp>
        <p:nvSpPr>
          <p:cNvPr id="7" name="Text 5"/>
          <p:cNvSpPr/>
          <p:nvPr/>
        </p:nvSpPr>
        <p:spPr>
          <a:xfrm>
            <a:off x="6559550" y="2459930"/>
            <a:ext cx="204063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Arial" pitchFamily="34" charset="0"/>
                <a:ea typeface="Arial" pitchFamily="34" charset="-122"/>
                <a:cs typeface="Arial" pitchFamily="34" charset="-120"/>
              </a:rPr>
              <a:t>tests, 96% coverage</a:t>
            </a:r>
            <a:endParaRPr lang="en-US" sz="1400" dirty="0"/>
          </a:p>
        </p:txBody>
      </p:sp>
      <p:sp>
        <p:nvSpPr>
          <p:cNvPr id="8" name="Shape 6"/>
          <p:cNvSpPr/>
          <p:nvPr/>
        </p:nvSpPr>
        <p:spPr>
          <a:xfrm>
            <a:off x="8931275" y="1674465"/>
            <a:ext cx="2444750" cy="2104380"/>
          </a:xfrm>
          <a:prstGeom prst="roundRect">
            <a:avLst>
              <a:gd name="adj" fmla="val 4677"/>
            </a:avLst>
          </a:prstGeom>
          <a:solidFill>
            <a:srgbClr val="FFFFFF"/>
          </a:solidFill>
          <a:ln w="6350">
            <a:solidFill>
              <a:srgbClr val="E1DDD3"/>
            </a:solidFill>
            <a:prstDash val="solid"/>
          </a:ln>
        </p:spPr>
      </p:sp>
      <p:sp>
        <p:nvSpPr>
          <p:cNvPr id="9" name="Text 7"/>
          <p:cNvSpPr/>
          <p:nvPr/>
        </p:nvSpPr>
        <p:spPr>
          <a:xfrm>
            <a:off x="9163050" y="1906240"/>
            <a:ext cx="204063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5A12"/>
                </a:solidFill>
                <a:latin typeface="Arial" pitchFamily="34" charset="0"/>
                <a:ea typeface="Arial" pitchFamily="34" charset="-122"/>
                <a:cs typeface="Arial" pitchFamily="34" charset="-120"/>
              </a:rPr>
              <a:t>11</a:t>
            </a:r>
            <a:endParaRPr lang="en-US" sz="3600" dirty="0"/>
          </a:p>
        </p:txBody>
      </p:sp>
      <p:sp>
        <p:nvSpPr>
          <p:cNvPr id="10" name="Text 8"/>
          <p:cNvSpPr/>
          <p:nvPr/>
        </p:nvSpPr>
        <p:spPr>
          <a:xfrm>
            <a:off x="9163050" y="2459930"/>
            <a:ext cx="204063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Arial" pitchFamily="34" charset="0"/>
                <a:ea typeface="Arial" pitchFamily="34" charset="-122"/>
                <a:cs typeface="Arial" pitchFamily="34" charset="-120"/>
              </a:rPr>
              <a:t>jobs in the CI/CD pipeline</a:t>
            </a:r>
            <a:endParaRPr lang="en-US" sz="1400" dirty="0"/>
          </a:p>
        </p:txBody>
      </p:sp>
      <p:sp>
        <p:nvSpPr>
          <p:cNvPr id="11" name="Shape 9"/>
          <p:cNvSpPr/>
          <p:nvPr/>
        </p:nvSpPr>
        <p:spPr>
          <a:xfrm>
            <a:off x="6327775" y="3937595"/>
            <a:ext cx="2444750" cy="2104430"/>
          </a:xfrm>
          <a:prstGeom prst="roundRect">
            <a:avLst>
              <a:gd name="adj" fmla="val 4677"/>
            </a:avLst>
          </a:prstGeom>
          <a:solidFill>
            <a:srgbClr val="FFFFFF"/>
          </a:solidFill>
          <a:ln w="6350">
            <a:solidFill>
              <a:srgbClr val="E1DDD3"/>
            </a:solidFill>
            <a:prstDash val="solid"/>
          </a:ln>
        </p:spPr>
      </p:sp>
      <p:sp>
        <p:nvSpPr>
          <p:cNvPr id="12" name="Text 10"/>
          <p:cNvSpPr/>
          <p:nvPr/>
        </p:nvSpPr>
        <p:spPr>
          <a:xfrm>
            <a:off x="6559550" y="4169370"/>
            <a:ext cx="204063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5A12"/>
                </a:solidFill>
                <a:latin typeface="Arial" pitchFamily="34" charset="0"/>
                <a:ea typeface="Arial" pitchFamily="34" charset="-122"/>
                <a:cs typeface="Arial" pitchFamily="34" charset="-120"/>
              </a:rPr>
              <a:t>64</a:t>
            </a:r>
            <a:endParaRPr lang="en-US" sz="3600" dirty="0"/>
          </a:p>
        </p:txBody>
      </p:sp>
      <p:sp>
        <p:nvSpPr>
          <p:cNvPr id="13" name="Text 11"/>
          <p:cNvSpPr/>
          <p:nvPr/>
        </p:nvSpPr>
        <p:spPr>
          <a:xfrm>
            <a:off x="6559550" y="4723061"/>
            <a:ext cx="204063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Arial" pitchFamily="34" charset="0"/>
                <a:ea typeface="Arial" pitchFamily="34" charset="-122"/>
                <a:cs typeface="Arial" pitchFamily="34" charset="-120"/>
              </a:rPr>
              <a:t>AWS resources from Terraform</a:t>
            </a:r>
            <a:endParaRPr lang="en-US" sz="1400" dirty="0"/>
          </a:p>
        </p:txBody>
      </p:sp>
      <p:sp>
        <p:nvSpPr>
          <p:cNvPr id="14" name="Shape 12"/>
          <p:cNvSpPr/>
          <p:nvPr/>
        </p:nvSpPr>
        <p:spPr>
          <a:xfrm>
            <a:off x="8931275" y="3937595"/>
            <a:ext cx="2444750" cy="2104430"/>
          </a:xfrm>
          <a:prstGeom prst="roundRect">
            <a:avLst>
              <a:gd name="adj" fmla="val 4677"/>
            </a:avLst>
          </a:prstGeom>
          <a:solidFill>
            <a:srgbClr val="FFFFFF"/>
          </a:solidFill>
          <a:ln w="6350">
            <a:solidFill>
              <a:srgbClr val="E1DDD3"/>
            </a:solidFill>
            <a:prstDash val="solid"/>
          </a:ln>
        </p:spPr>
      </p:sp>
      <p:sp>
        <p:nvSpPr>
          <p:cNvPr id="15" name="Text 13"/>
          <p:cNvSpPr/>
          <p:nvPr/>
        </p:nvSpPr>
        <p:spPr>
          <a:xfrm>
            <a:off x="9163050" y="4169370"/>
            <a:ext cx="204063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5A12"/>
                </a:solidFill>
                <a:latin typeface="Arial" pitchFamily="34" charset="0"/>
                <a:ea typeface="Arial" pitchFamily="34" charset="-122"/>
                <a:cs typeface="Arial" pitchFamily="34" charset="-120"/>
              </a:rPr>
              <a:t>14</a:t>
            </a:r>
            <a:endParaRPr lang="en-US" sz="3600" dirty="0"/>
          </a:p>
        </p:txBody>
      </p:sp>
      <p:sp>
        <p:nvSpPr>
          <p:cNvPr id="16" name="Text 14"/>
          <p:cNvSpPr/>
          <p:nvPr/>
        </p:nvSpPr>
        <p:spPr>
          <a:xfrm>
            <a:off x="9163050" y="4723061"/>
            <a:ext cx="204063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Arial" pitchFamily="34" charset="0"/>
                <a:ea typeface="Arial" pitchFamily="34" charset="-122"/>
                <a:cs typeface="Arial" pitchFamily="34" charset="-120"/>
              </a:rPr>
              <a:t>faults broken and fixed on purpose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92B"/>
                </a:solidFill>
                <a:latin typeface="Arial" pitchFamily="34" charset="0"/>
                <a:ea typeface="Arial" pitchFamily="34" charset="-122"/>
                <a:cs typeface="Arial" pitchFamily="34" charset="-120"/>
              </a:rPr>
              <a:t>Architecture overview</a:t>
            </a:r>
            <a:endParaRPr lang="en-US" sz="3600" dirty="0"/>
          </a:p>
        </p:txBody>
      </p:sp>
      <p:sp>
        <p:nvSpPr>
          <p:cNvPr id="3" name="Text 1"/>
          <p:cNvSpPr/>
          <p:nvPr/>
        </p:nvSpPr>
        <p:spPr>
          <a:xfrm>
            <a:off x="812800" y="2026841"/>
            <a:ext cx="11303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5A12"/>
                </a:solidFill>
                <a:latin typeface="Courier New" pitchFamily="49" charset="0"/>
                <a:ea typeface="Courier New" pitchFamily="49" charset="-122"/>
                <a:cs typeface="Courier New" pitchFamily="49" charset="-120"/>
              </a:rPr>
              <a:t>BUILD</a:t>
            </a:r>
            <a:endParaRPr lang="en-US" sz="1200" dirty="0"/>
          </a:p>
        </p:txBody>
      </p:sp>
      <p:sp>
        <p:nvSpPr>
          <p:cNvPr id="4" name="Shape 2"/>
          <p:cNvSpPr/>
          <p:nvPr/>
        </p:nvSpPr>
        <p:spPr>
          <a:xfrm>
            <a:off x="1997075" y="1730325"/>
            <a:ext cx="2749550" cy="806400"/>
          </a:xfrm>
          <a:prstGeom prst="roundRect">
            <a:avLst>
              <a:gd name="adj" fmla="val 12205"/>
            </a:avLst>
          </a:prstGeom>
          <a:solidFill>
            <a:srgbClr val="FFFFFF"/>
          </a:solidFill>
          <a:ln w="6350">
            <a:solidFill>
              <a:srgbClr val="E1DDD3"/>
            </a:solidFill>
            <a:prstDash val="solid"/>
          </a:ln>
        </p:spPr>
      </p:sp>
      <p:sp>
        <p:nvSpPr>
          <p:cNvPr id="5" name="Text 3"/>
          <p:cNvSpPr/>
          <p:nvPr/>
        </p:nvSpPr>
        <p:spPr>
          <a:xfrm>
            <a:off x="2178050" y="1885900"/>
            <a:ext cx="245922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git push</a:t>
            </a:r>
            <a:endParaRPr lang="en-US" sz="1600" dirty="0"/>
          </a:p>
        </p:txBody>
      </p:sp>
      <p:sp>
        <p:nvSpPr>
          <p:cNvPr id="6" name="Text 4"/>
          <p:cNvSpPr/>
          <p:nvPr/>
        </p:nvSpPr>
        <p:spPr>
          <a:xfrm>
            <a:off x="2178050" y="2167830"/>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PR or push to main on GitHub</a:t>
            </a:r>
            <a:endParaRPr lang="en-US" sz="1200" dirty="0"/>
          </a:p>
        </p:txBody>
      </p:sp>
      <p:pic>
        <p:nvPicPr>
          <p:cNvPr id="7" name="Image 0" descr="connector">    </p:cNvPr>
          <p:cNvPicPr>
            <a:picLocks noChangeAspect="1"/>
          </p:cNvPicPr>
          <p:nvPr/>
        </p:nvPicPr>
        <p:blipFill>
          <a:blip r:embed="rId1"/>
          <a:srcRect l="0" r="0" t="0" b="0"/>
          <a:stretch/>
        </p:blipFill>
        <p:spPr>
          <a:xfrm>
            <a:off x="4851400" y="2095401"/>
            <a:ext cx="355600" cy="76200"/>
          </a:xfrm>
          <a:prstGeom prst="rect">
            <a:avLst/>
          </a:prstGeom>
        </p:spPr>
      </p:pic>
      <p:sp>
        <p:nvSpPr>
          <p:cNvPr id="8" name="Shape 5"/>
          <p:cNvSpPr/>
          <p:nvPr/>
        </p:nvSpPr>
        <p:spPr>
          <a:xfrm>
            <a:off x="5311775" y="1730325"/>
            <a:ext cx="2749550" cy="806400"/>
          </a:xfrm>
          <a:prstGeom prst="roundRect">
            <a:avLst>
              <a:gd name="adj" fmla="val 12205"/>
            </a:avLst>
          </a:prstGeom>
          <a:solidFill>
            <a:srgbClr val="FFFFFF"/>
          </a:solidFill>
          <a:ln w="6350">
            <a:solidFill>
              <a:srgbClr val="E1DDD3"/>
            </a:solidFill>
            <a:prstDash val="solid"/>
          </a:ln>
        </p:spPr>
      </p:sp>
      <p:sp>
        <p:nvSpPr>
          <p:cNvPr id="9" name="Text 6"/>
          <p:cNvSpPr/>
          <p:nvPr/>
        </p:nvSpPr>
        <p:spPr>
          <a:xfrm>
            <a:off x="5492750" y="1885900"/>
            <a:ext cx="245922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GitHub Actions</a:t>
            </a:r>
            <a:endParaRPr lang="en-US" sz="1600" dirty="0"/>
          </a:p>
        </p:txBody>
      </p:sp>
      <p:sp>
        <p:nvSpPr>
          <p:cNvPr id="10" name="Text 7"/>
          <p:cNvSpPr/>
          <p:nvPr/>
        </p:nvSpPr>
        <p:spPr>
          <a:xfrm>
            <a:off x="5492750" y="2167830"/>
            <a:ext cx="2565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tests, scans, image build, kind test</a:t>
            </a:r>
            <a:endParaRPr lang="en-US" sz="1200" dirty="0"/>
          </a:p>
        </p:txBody>
      </p:sp>
      <p:pic>
        <p:nvPicPr>
          <p:cNvPr id="11" name="Image 1" descr="connector">    </p:cNvPr>
          <p:cNvPicPr>
            <a:picLocks noChangeAspect="1"/>
          </p:cNvPicPr>
          <p:nvPr/>
        </p:nvPicPr>
        <p:blipFill>
          <a:blip r:embed="rId2"/>
          <a:srcRect l="0" r="0" t="0" b="0"/>
          <a:stretch/>
        </p:blipFill>
        <p:spPr>
          <a:xfrm>
            <a:off x="8166100" y="2095401"/>
            <a:ext cx="355600" cy="76200"/>
          </a:xfrm>
          <a:prstGeom prst="rect">
            <a:avLst/>
          </a:prstGeom>
        </p:spPr>
      </p:pic>
      <p:sp>
        <p:nvSpPr>
          <p:cNvPr id="12" name="Shape 8"/>
          <p:cNvSpPr/>
          <p:nvPr/>
        </p:nvSpPr>
        <p:spPr>
          <a:xfrm>
            <a:off x="8626475" y="1623665"/>
            <a:ext cx="2749550" cy="1019721"/>
          </a:xfrm>
          <a:prstGeom prst="roundRect">
            <a:avLst>
              <a:gd name="adj" fmla="val 9652"/>
            </a:avLst>
          </a:prstGeom>
          <a:solidFill>
            <a:srgbClr val="FFFFFF"/>
          </a:solidFill>
          <a:ln w="6350">
            <a:solidFill>
              <a:srgbClr val="E1DDD3"/>
            </a:solidFill>
            <a:prstDash val="solid"/>
          </a:ln>
        </p:spPr>
      </p:sp>
      <p:sp>
        <p:nvSpPr>
          <p:cNvPr id="13" name="Text 9"/>
          <p:cNvSpPr/>
          <p:nvPr/>
        </p:nvSpPr>
        <p:spPr>
          <a:xfrm>
            <a:off x="8807450" y="1779240"/>
            <a:ext cx="245922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GHCR</a:t>
            </a:r>
            <a:endParaRPr lang="en-US" sz="1600" dirty="0"/>
          </a:p>
        </p:txBody>
      </p:sp>
      <p:sp>
        <p:nvSpPr>
          <p:cNvPr id="14" name="Text 10"/>
          <p:cNvSpPr/>
          <p:nvPr/>
        </p:nvSpPr>
        <p:spPr>
          <a:xfrm>
            <a:off x="8807450" y="2061170"/>
            <a:ext cx="24592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images tagged with the commit SHA</a:t>
            </a:r>
            <a:endParaRPr lang="en-US" sz="1200" dirty="0"/>
          </a:p>
        </p:txBody>
      </p:sp>
      <p:sp>
        <p:nvSpPr>
          <p:cNvPr id="15" name="Text 11"/>
          <p:cNvSpPr/>
          <p:nvPr/>
        </p:nvSpPr>
        <p:spPr>
          <a:xfrm>
            <a:off x="812800" y="3149451"/>
            <a:ext cx="11303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5A12"/>
                </a:solidFill>
                <a:latin typeface="Courier New" pitchFamily="49" charset="0"/>
                <a:ea typeface="Courier New" pitchFamily="49" charset="-122"/>
                <a:cs typeface="Courier New" pitchFamily="49" charset="-120"/>
              </a:rPr>
              <a:t>DEPLOY</a:t>
            </a:r>
            <a:endParaRPr lang="en-US" sz="1200" dirty="0"/>
          </a:p>
        </p:txBody>
      </p:sp>
      <p:sp>
        <p:nvSpPr>
          <p:cNvPr id="16" name="Shape 12"/>
          <p:cNvSpPr/>
          <p:nvPr/>
        </p:nvSpPr>
        <p:spPr>
          <a:xfrm>
            <a:off x="1997075" y="2852936"/>
            <a:ext cx="2749550" cy="806400"/>
          </a:xfrm>
          <a:prstGeom prst="roundRect">
            <a:avLst>
              <a:gd name="adj" fmla="val 12205"/>
            </a:avLst>
          </a:prstGeom>
          <a:solidFill>
            <a:srgbClr val="FFFFFF"/>
          </a:solidFill>
          <a:ln w="6350">
            <a:solidFill>
              <a:srgbClr val="E1DDD3"/>
            </a:solidFill>
            <a:prstDash val="solid"/>
          </a:ln>
        </p:spPr>
      </p:sp>
      <p:sp>
        <p:nvSpPr>
          <p:cNvPr id="17" name="Text 13"/>
          <p:cNvSpPr/>
          <p:nvPr/>
        </p:nvSpPr>
        <p:spPr>
          <a:xfrm>
            <a:off x="2178050" y="3008511"/>
            <a:ext cx="245922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GitOps commit</a:t>
            </a:r>
            <a:endParaRPr lang="en-US" sz="1600" dirty="0"/>
          </a:p>
        </p:txBody>
      </p:sp>
      <p:sp>
        <p:nvSpPr>
          <p:cNvPr id="18" name="Text 14"/>
          <p:cNvSpPr/>
          <p:nvPr/>
        </p:nvSpPr>
        <p:spPr>
          <a:xfrm>
            <a:off x="2178050" y="3290441"/>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CI writes the new tag into Git</a:t>
            </a:r>
            <a:endParaRPr lang="en-US" sz="1200" dirty="0"/>
          </a:p>
        </p:txBody>
      </p:sp>
      <p:pic>
        <p:nvPicPr>
          <p:cNvPr id="19" name="Image 2" descr="connector">    </p:cNvPr>
          <p:cNvPicPr>
            <a:picLocks noChangeAspect="1"/>
          </p:cNvPicPr>
          <p:nvPr/>
        </p:nvPicPr>
        <p:blipFill>
          <a:blip r:embed="rId3"/>
          <a:srcRect l="0" r="0" t="0" b="0"/>
          <a:stretch/>
        </p:blipFill>
        <p:spPr>
          <a:xfrm>
            <a:off x="4851400" y="3218011"/>
            <a:ext cx="355600" cy="76200"/>
          </a:xfrm>
          <a:prstGeom prst="rect">
            <a:avLst/>
          </a:prstGeom>
        </p:spPr>
      </p:pic>
      <p:sp>
        <p:nvSpPr>
          <p:cNvPr id="20" name="Shape 15"/>
          <p:cNvSpPr/>
          <p:nvPr/>
        </p:nvSpPr>
        <p:spPr>
          <a:xfrm>
            <a:off x="5311775" y="2852936"/>
            <a:ext cx="2749550" cy="806400"/>
          </a:xfrm>
          <a:prstGeom prst="roundRect">
            <a:avLst>
              <a:gd name="adj" fmla="val 12205"/>
            </a:avLst>
          </a:prstGeom>
          <a:solidFill>
            <a:srgbClr val="FFFFFF"/>
          </a:solidFill>
          <a:ln w="6350">
            <a:solidFill>
              <a:srgbClr val="E1DDD3"/>
            </a:solidFill>
            <a:prstDash val="solid"/>
          </a:ln>
        </p:spPr>
      </p:sp>
      <p:sp>
        <p:nvSpPr>
          <p:cNvPr id="21" name="Text 16"/>
          <p:cNvSpPr/>
          <p:nvPr/>
        </p:nvSpPr>
        <p:spPr>
          <a:xfrm>
            <a:off x="5492750" y="3008511"/>
            <a:ext cx="245922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Argo CD</a:t>
            </a:r>
            <a:endParaRPr lang="en-US" sz="1600" dirty="0"/>
          </a:p>
        </p:txBody>
      </p:sp>
      <p:sp>
        <p:nvSpPr>
          <p:cNvPr id="22" name="Text 17"/>
          <p:cNvSpPr/>
          <p:nvPr/>
        </p:nvSpPr>
        <p:spPr>
          <a:xfrm>
            <a:off x="5492750" y="3290441"/>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pulls from Git, self-heals drift</a:t>
            </a:r>
            <a:endParaRPr lang="en-US" sz="1200" dirty="0"/>
          </a:p>
        </p:txBody>
      </p:sp>
      <p:pic>
        <p:nvPicPr>
          <p:cNvPr id="23" name="Image 3" descr="connector">    </p:cNvPr>
          <p:cNvPicPr>
            <a:picLocks noChangeAspect="1"/>
          </p:cNvPicPr>
          <p:nvPr/>
        </p:nvPicPr>
        <p:blipFill>
          <a:blip r:embed="rId4"/>
          <a:srcRect l="0" r="0" t="0" b="0"/>
          <a:stretch/>
        </p:blipFill>
        <p:spPr>
          <a:xfrm>
            <a:off x="8166100" y="3218011"/>
            <a:ext cx="355600" cy="76200"/>
          </a:xfrm>
          <a:prstGeom prst="rect">
            <a:avLst/>
          </a:prstGeom>
        </p:spPr>
      </p:pic>
      <p:sp>
        <p:nvSpPr>
          <p:cNvPr id="24" name="Shape 18"/>
          <p:cNvSpPr/>
          <p:nvPr/>
        </p:nvSpPr>
        <p:spPr>
          <a:xfrm>
            <a:off x="8626475" y="2852936"/>
            <a:ext cx="2749550" cy="806400"/>
          </a:xfrm>
          <a:prstGeom prst="roundRect">
            <a:avLst>
              <a:gd name="adj" fmla="val 12205"/>
            </a:avLst>
          </a:prstGeom>
          <a:solidFill>
            <a:srgbClr val="FFFFFF"/>
          </a:solidFill>
          <a:ln w="6350">
            <a:solidFill>
              <a:srgbClr val="E1DDD3"/>
            </a:solidFill>
            <a:prstDash val="solid"/>
          </a:ln>
        </p:spPr>
      </p:sp>
      <p:sp>
        <p:nvSpPr>
          <p:cNvPr id="25" name="Text 19"/>
          <p:cNvSpPr/>
          <p:nvPr/>
        </p:nvSpPr>
        <p:spPr>
          <a:xfrm>
            <a:off x="8807450" y="3008511"/>
            <a:ext cx="245922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Kubernetes</a:t>
            </a:r>
            <a:endParaRPr lang="en-US" sz="1600" dirty="0"/>
          </a:p>
        </p:txBody>
      </p:sp>
      <p:sp>
        <p:nvSpPr>
          <p:cNvPr id="26" name="Text 20"/>
          <p:cNvSpPr/>
          <p:nvPr/>
        </p:nvSpPr>
        <p:spPr>
          <a:xfrm>
            <a:off x="8807450" y="3290441"/>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kind locally, EKS on AWS</a:t>
            </a:r>
            <a:endParaRPr lang="en-US" sz="1200" dirty="0"/>
          </a:p>
        </p:txBody>
      </p:sp>
      <p:sp>
        <p:nvSpPr>
          <p:cNvPr id="27" name="Text 21"/>
          <p:cNvSpPr/>
          <p:nvPr/>
        </p:nvSpPr>
        <p:spPr>
          <a:xfrm>
            <a:off x="812800" y="4159052"/>
            <a:ext cx="11303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5A12"/>
                </a:solidFill>
                <a:latin typeface="Courier New" pitchFamily="49" charset="0"/>
                <a:ea typeface="Courier New" pitchFamily="49" charset="-122"/>
                <a:cs typeface="Courier New" pitchFamily="49" charset="-120"/>
              </a:rPr>
              <a:t>WATCH</a:t>
            </a:r>
            <a:endParaRPr lang="en-US" sz="1200" dirty="0"/>
          </a:p>
        </p:txBody>
      </p:sp>
      <p:sp>
        <p:nvSpPr>
          <p:cNvPr id="28" name="Shape 22"/>
          <p:cNvSpPr/>
          <p:nvPr/>
        </p:nvSpPr>
        <p:spPr>
          <a:xfrm>
            <a:off x="1993900" y="3865711"/>
            <a:ext cx="9385300" cy="800050"/>
          </a:xfrm>
          <a:prstGeom prst="roundRect">
            <a:avLst>
              <a:gd name="adj" fmla="val 12699"/>
            </a:avLst>
          </a:prstGeom>
          <a:solidFill>
            <a:srgbClr val="10192B"/>
          </a:solidFill>
          <a:ln/>
        </p:spPr>
      </p:sp>
      <p:sp>
        <p:nvSpPr>
          <p:cNvPr id="29" name="Text 23"/>
          <p:cNvSpPr/>
          <p:nvPr/>
        </p:nvSpPr>
        <p:spPr>
          <a:xfrm>
            <a:off x="2171700" y="4018111"/>
            <a:ext cx="930059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Arial" pitchFamily="34" charset="0"/>
                <a:ea typeface="Arial" pitchFamily="34" charset="-122"/>
                <a:cs typeface="Arial" pitchFamily="34" charset="-120"/>
              </a:rPr>
              <a:t>Prometheus · Grafana · Loki</a:t>
            </a:r>
            <a:endParaRPr lang="en-US" sz="1600" dirty="0"/>
          </a:p>
        </p:txBody>
      </p:sp>
      <p:sp>
        <p:nvSpPr>
          <p:cNvPr id="30" name="Text 24"/>
          <p:cNvSpPr/>
          <p:nvPr/>
        </p:nvSpPr>
        <p:spPr>
          <a:xfrm>
            <a:off x="2171700" y="4300041"/>
            <a:ext cx="93005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Arial" pitchFamily="34" charset="0"/>
                <a:ea typeface="Arial" pitchFamily="34" charset="-122"/>
                <a:cs typeface="Arial" pitchFamily="34" charset="-120"/>
              </a:rPr>
              <a:t>metrics scraped through a ServiceMonitor, a dashboard and alerts shipped with the Helm chart, logs collected by Alloy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92B"/>
                </a:solidFill>
                <a:latin typeface="Arial" pitchFamily="34" charset="0"/>
                <a:ea typeface="Arial" pitchFamily="34" charset="-122"/>
                <a:cs typeface="Arial" pitchFamily="34" charset="-120"/>
              </a:rPr>
              <a:t>The stack</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10553700" cy="3860105"/>
        </p:xfrm>
        <a:graphic>
          <a:graphicData uri="http://schemas.openxmlformats.org/drawingml/2006/table">
            <a:tbl>
              <a:tblPr/>
              <a:tblGrid>
                <a:gridCol w="2955036"/>
                <a:gridCol w="7598664"/>
              </a:tblGrid>
              <a:tr h="386011">
                <a:tc>
                  <a:txBody>
                    <a:bodyPr/>
                    <a:lstStyle/>
                    <a:p>
                      <a:pPr indent="0" marL="0">
                        <a:lnSpc>
                          <a:spcPts val="1960"/>
                        </a:lnSpc>
                        <a:buNone/>
                      </a:pPr>
                      <a:r>
                        <a:rPr lang="en-US" sz="1400" b="1" dirty="0">
                          <a:solidFill>
                            <a:srgbClr val="10192B"/>
                          </a:solidFill>
                          <a:latin typeface="Arial" pitchFamily="34" charset="0"/>
                          <a:ea typeface="Arial" pitchFamily="34" charset="-122"/>
                          <a:cs typeface="Arial" pitchFamily="34" charset="-120"/>
                        </a:rPr>
                        <a:t>Layer</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960"/>
                        </a:lnSpc>
                        <a:buNone/>
                      </a:pPr>
                      <a:r>
                        <a:rPr lang="en-US" sz="1400" b="1" dirty="0">
                          <a:solidFill>
                            <a:srgbClr val="10192B"/>
                          </a:solidFill>
                          <a:latin typeface="Arial" pitchFamily="34" charset="0"/>
                          <a:ea typeface="Arial" pitchFamily="34" charset="-122"/>
                          <a:cs typeface="Arial" pitchFamily="34" charset="-120"/>
                        </a:rPr>
                        <a:t>Tools</a:t>
                      </a:r>
                      <a:endParaRPr lang="en-US" sz="1400" dirty="0">
                        <a:latin typeface="Arial" charset="0"/>
                        <a:ea typeface="Arial" charset="0"/>
                        <a:cs typeface="Arial" charset="0"/>
                      </a:endParaRPr>
                    </a:p>
                  </a:txBody>
                  <a:tcPr marL="62230" marR="62230" marT="62230" marB="6223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86011">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Application</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FastAPI, SQLAlchemy, Alembic, PostgreSQL 17, Vite + Nginx</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Tests and quality</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pytest (12 tests, 96% coverage), ruff</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Containers</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Multi-stage Dockerfiles, non-root users, Docker Compose</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CI/CD</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GitHub Actions, GHCR, commit-SHA image tags</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Security</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Semgrep, Bandit, pip-audit, npm audit, Gitleaks, Trivy</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Infrastructure</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Terraform: VPC and EKS 1.34 on AWS (ap-south-1)</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Kubernetes</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Helm chart, Kustomize manifests, ingress-nginx, kind</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GitOps</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Argo CD, app-of-apps, automated sync with self-heal</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Observability</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0192B"/>
                          </a:solidFill>
                          <a:latin typeface="Arial" pitchFamily="34" charset="0"/>
                          <a:ea typeface="Arial" pitchFamily="34" charset="-122"/>
                          <a:cs typeface="Arial" pitchFamily="34" charset="-120"/>
                        </a:rPr>
                        <a:t>Prometheus, Grafana, Loki, Grafana Alloy</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92B"/>
                </a:solidFill>
                <a:latin typeface="Arial" pitchFamily="34" charset="0"/>
                <a:ea typeface="Arial" pitchFamily="34" charset="-122"/>
                <a:cs typeface="Arial" pitchFamily="34" charset="-120"/>
              </a:rPr>
              <a:t>CI/CD: one pipeline, five stages</a:t>
            </a:r>
            <a:endParaRPr lang="en-US" sz="3600" dirty="0"/>
          </a:p>
        </p:txBody>
      </p:sp>
      <p:sp>
        <p:nvSpPr>
          <p:cNvPr id="3" name="Text 1"/>
          <p:cNvSpPr/>
          <p:nvPr/>
        </p:nvSpPr>
        <p:spPr>
          <a:xfrm>
            <a:off x="812800" y="1620490"/>
            <a:ext cx="4064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5A12"/>
                </a:solidFill>
                <a:latin typeface="Courier New" pitchFamily="49" charset="0"/>
                <a:ea typeface="Courier New" pitchFamily="49" charset="-122"/>
                <a:cs typeface="Courier New" pitchFamily="49" charset="-120"/>
              </a:rPr>
              <a:t>01</a:t>
            </a:r>
            <a:endParaRPr lang="en-US" sz="1600" dirty="0"/>
          </a:p>
        </p:txBody>
      </p:sp>
      <p:sp>
        <p:nvSpPr>
          <p:cNvPr id="4" name="Text 2"/>
          <p:cNvSpPr/>
          <p:nvPr/>
        </p:nvSpPr>
        <p:spPr>
          <a:xfrm>
            <a:off x="1295400" y="1620490"/>
            <a:ext cx="4473702"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Seven checks in parallel:</a:t>
            </a:r>
            <a:r>
              <a:rPr lang="en-US" sz="1400" dirty="0">
                <a:solidFill>
                  <a:srgbClr val="3E4A5C"/>
                </a:solidFill>
                <a:latin typeface="Arial" pitchFamily="34" charset="0"/>
                <a:ea typeface="Arial" pitchFamily="34" charset="-122"/>
                <a:cs typeface="Arial" pitchFamily="34" charset="-120"/>
              </a:rPr>
              <a:t> tests, frontend build, Helm and manifest validation, SAST, SCA, secret scan, IaC scan</a:t>
            </a:r>
            <a:endParaRPr lang="en-US" sz="1400" dirty="0"/>
          </a:p>
        </p:txBody>
      </p:sp>
      <p:sp>
        <p:nvSpPr>
          <p:cNvPr id="5" name="Text 3"/>
          <p:cNvSpPr/>
          <p:nvPr/>
        </p:nvSpPr>
        <p:spPr>
          <a:xfrm>
            <a:off x="812800" y="2494161"/>
            <a:ext cx="4064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5A12"/>
                </a:solidFill>
                <a:latin typeface="Courier New" pitchFamily="49" charset="0"/>
                <a:ea typeface="Courier New" pitchFamily="49" charset="-122"/>
                <a:cs typeface="Courier New" pitchFamily="49" charset="-120"/>
              </a:rPr>
              <a:t>02</a:t>
            </a:r>
            <a:endParaRPr lang="en-US" sz="1600" dirty="0"/>
          </a:p>
        </p:txBody>
      </p:sp>
      <p:sp>
        <p:nvSpPr>
          <p:cNvPr id="6" name="Text 4"/>
          <p:cNvSpPr/>
          <p:nvPr/>
        </p:nvSpPr>
        <p:spPr>
          <a:xfrm>
            <a:off x="1295400" y="2494161"/>
            <a:ext cx="4473702"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Build both images</a:t>
            </a:r>
            <a:r>
              <a:rPr lang="en-US" sz="1400" dirty="0">
                <a:solidFill>
                  <a:srgbClr val="3E4A5C"/>
                </a:solidFill>
                <a:latin typeface="Arial" pitchFamily="34" charset="0"/>
                <a:ea typeface="Arial" pitchFamily="34" charset="-122"/>
                <a:cs typeface="Arial" pitchFamily="34" charset="-120"/>
              </a:rPr>
              <a:t> and scan them with Trivy, plus an SBOM</a:t>
            </a:r>
            <a:endParaRPr lang="en-US" sz="1400" dirty="0"/>
          </a:p>
        </p:txBody>
      </p:sp>
      <p:sp>
        <p:nvSpPr>
          <p:cNvPr id="7" name="Text 5"/>
          <p:cNvSpPr/>
          <p:nvPr/>
        </p:nvSpPr>
        <p:spPr>
          <a:xfrm>
            <a:off x="812800" y="3118941"/>
            <a:ext cx="4064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5A12"/>
                </a:solidFill>
                <a:latin typeface="Courier New" pitchFamily="49" charset="0"/>
                <a:ea typeface="Courier New" pitchFamily="49" charset="-122"/>
                <a:cs typeface="Courier New" pitchFamily="49" charset="-120"/>
              </a:rPr>
              <a:t>03</a:t>
            </a:r>
            <a:endParaRPr lang="en-US" sz="1600" dirty="0"/>
          </a:p>
        </p:txBody>
      </p:sp>
      <p:sp>
        <p:nvSpPr>
          <p:cNvPr id="8" name="Text 6"/>
          <p:cNvSpPr/>
          <p:nvPr/>
        </p:nvSpPr>
        <p:spPr>
          <a:xfrm>
            <a:off x="1295400" y="3118941"/>
            <a:ext cx="4473702"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Deploy to a throwaway kind cluster</a:t>
            </a:r>
            <a:r>
              <a:rPr lang="en-US" sz="1400" dirty="0">
                <a:solidFill>
                  <a:srgbClr val="3E4A5C"/>
                </a:solidFill>
                <a:latin typeface="Arial" pitchFamily="34" charset="0"/>
                <a:ea typeface="Arial" pitchFamily="34" charset="-122"/>
                <a:cs typeface="Arial" pitchFamily="34" charset="-120"/>
              </a:rPr>
              <a:t> with the Helm chart, then run helm test</a:t>
            </a:r>
            <a:endParaRPr lang="en-US" sz="1400" dirty="0"/>
          </a:p>
        </p:txBody>
      </p:sp>
      <p:sp>
        <p:nvSpPr>
          <p:cNvPr id="9" name="Text 7"/>
          <p:cNvSpPr/>
          <p:nvPr/>
        </p:nvSpPr>
        <p:spPr>
          <a:xfrm>
            <a:off x="812800" y="3743722"/>
            <a:ext cx="4064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5A12"/>
                </a:solidFill>
                <a:latin typeface="Courier New" pitchFamily="49" charset="0"/>
                <a:ea typeface="Courier New" pitchFamily="49" charset="-122"/>
                <a:cs typeface="Courier New" pitchFamily="49" charset="-120"/>
              </a:rPr>
              <a:t>04</a:t>
            </a:r>
            <a:endParaRPr lang="en-US" sz="1600" dirty="0"/>
          </a:p>
        </p:txBody>
      </p:sp>
      <p:sp>
        <p:nvSpPr>
          <p:cNvPr id="10" name="Text 8"/>
          <p:cNvSpPr/>
          <p:nvPr/>
        </p:nvSpPr>
        <p:spPr>
          <a:xfrm>
            <a:off x="1295400" y="3743722"/>
            <a:ext cx="4473702"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Push to GHCR</a:t>
            </a:r>
            <a:r>
              <a:rPr lang="en-US" sz="1400" dirty="0">
                <a:solidFill>
                  <a:srgbClr val="3E4A5C"/>
                </a:solidFill>
                <a:latin typeface="Arial" pitchFamily="34" charset="0"/>
                <a:ea typeface="Arial" pitchFamily="34" charset="-122"/>
                <a:cs typeface="Arial" pitchFamily="34" charset="-120"/>
              </a:rPr>
              <a:t> (main only), tagged with the commit SHA</a:t>
            </a:r>
            <a:endParaRPr lang="en-US" sz="1400" dirty="0"/>
          </a:p>
        </p:txBody>
      </p:sp>
      <p:sp>
        <p:nvSpPr>
          <p:cNvPr id="11" name="Text 9"/>
          <p:cNvSpPr/>
          <p:nvPr/>
        </p:nvSpPr>
        <p:spPr>
          <a:xfrm>
            <a:off x="812800" y="4368502"/>
            <a:ext cx="4064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5A12"/>
                </a:solidFill>
                <a:latin typeface="Courier New" pitchFamily="49" charset="0"/>
                <a:ea typeface="Courier New" pitchFamily="49" charset="-122"/>
                <a:cs typeface="Courier New" pitchFamily="49" charset="-120"/>
              </a:rPr>
              <a:t>05</a:t>
            </a:r>
            <a:endParaRPr lang="en-US" sz="1600" dirty="0"/>
          </a:p>
        </p:txBody>
      </p:sp>
      <p:sp>
        <p:nvSpPr>
          <p:cNvPr id="12" name="Text 10"/>
          <p:cNvSpPr/>
          <p:nvPr/>
        </p:nvSpPr>
        <p:spPr>
          <a:xfrm>
            <a:off x="1295400" y="4368502"/>
            <a:ext cx="4699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Commit the new tag</a:t>
            </a:r>
            <a:r>
              <a:rPr lang="en-US" sz="1400" dirty="0">
                <a:solidFill>
                  <a:srgbClr val="3E4A5C"/>
                </a:solidFill>
                <a:latin typeface="Arial" pitchFamily="34" charset="0"/>
                <a:ea typeface="Arial" pitchFamily="34" charset="-122"/>
                <a:cs typeface="Arial" pitchFamily="34" charset="-120"/>
              </a:rPr>
              <a:t> to the GitOps folder for Argo CD</a:t>
            </a:r>
            <a:endParaRPr lang="en-US" sz="1400" dirty="0"/>
          </a:p>
        </p:txBody>
      </p:sp>
      <p:sp>
        <p:nvSpPr>
          <p:cNvPr id="13" name="Shape 11"/>
          <p:cNvSpPr/>
          <p:nvPr/>
        </p:nvSpPr>
        <p:spPr>
          <a:xfrm>
            <a:off x="5994400" y="1620490"/>
            <a:ext cx="5384800" cy="3810000"/>
          </a:xfrm>
          <a:prstGeom prst="roundRect">
            <a:avLst>
              <a:gd name="adj" fmla="val 2667"/>
            </a:avLst>
          </a:prstGeom>
          <a:solidFill>
            <a:srgbClr val="10192B"/>
          </a:solidFill>
          <a:ln/>
        </p:spPr>
      </p:sp>
      <p:pic>
        <p:nvPicPr>
          <p:cNvPr id="14" name="Image 0" descr="GitHub Actions run with every job green, from the parallel checks to the GitOps promote job">    </p:cNvPr>
          <p:cNvPicPr>
            <a:picLocks noChangeAspect="1"/>
          </p:cNvPicPr>
          <p:nvPr/>
        </p:nvPicPr>
        <p:blipFill>
          <a:blip r:embed="rId1"/>
          <a:srcRect l="0" r="0" t="-15088" b="-15088"/>
          <a:stretch/>
        </p:blipFill>
        <p:spPr>
          <a:xfrm>
            <a:off x="6121400" y="1747490"/>
            <a:ext cx="5130800" cy="355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9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2EC"/>
                </a:solidFill>
                <a:latin typeface="Arial" pitchFamily="34" charset="0"/>
                <a:ea typeface="Arial" pitchFamily="34" charset="-122"/>
                <a:cs typeface="Arial" pitchFamily="34" charset="-120"/>
              </a:rPr>
              <a:t>Security gates that stop the build</a:t>
            </a:r>
            <a:endParaRPr lang="en-US" sz="3600" dirty="0"/>
          </a:p>
        </p:txBody>
      </p:sp>
      <p:sp>
        <p:nvSpPr>
          <p:cNvPr id="3" name="Shape 1"/>
          <p:cNvSpPr/>
          <p:nvPr/>
        </p:nvSpPr>
        <p:spPr>
          <a:xfrm>
            <a:off x="812800" y="1620490"/>
            <a:ext cx="2011660" cy="1175941"/>
          </a:xfrm>
          <a:prstGeom prst="roundRect">
            <a:avLst>
              <a:gd name="adj" fmla="val 8640"/>
            </a:avLst>
          </a:prstGeom>
          <a:solidFill>
            <a:srgbClr val="1B2840"/>
          </a:solidFill>
          <a:ln/>
        </p:spPr>
      </p:sp>
      <p:sp>
        <p:nvSpPr>
          <p:cNvPr id="4" name="Text 2"/>
          <p:cNvSpPr/>
          <p:nvPr/>
        </p:nvSpPr>
        <p:spPr>
          <a:xfrm>
            <a:off x="990600" y="1823690"/>
            <a:ext cx="1706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060"/>
                </a:solidFill>
                <a:latin typeface="Courier New" pitchFamily="49" charset="0"/>
                <a:ea typeface="Courier New" pitchFamily="49" charset="-122"/>
                <a:cs typeface="Courier New" pitchFamily="49" charset="-120"/>
              </a:rPr>
              <a:t>SAST</a:t>
            </a:r>
            <a:endParaRPr lang="en-US" sz="1200" dirty="0"/>
          </a:p>
        </p:txBody>
      </p:sp>
      <p:sp>
        <p:nvSpPr>
          <p:cNvPr id="5" name="Text 3"/>
          <p:cNvSpPr/>
          <p:nvPr/>
        </p:nvSpPr>
        <p:spPr>
          <a:xfrm>
            <a:off x="990600" y="2113211"/>
            <a:ext cx="18338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E0"/>
                </a:solidFill>
                <a:latin typeface="Arial" pitchFamily="34" charset="0"/>
                <a:ea typeface="Arial" pitchFamily="34" charset="-122"/>
                <a:cs typeface="Arial" pitchFamily="34" charset="-120"/>
              </a:rPr>
              <a:t>Semgrep and Bandit</a:t>
            </a:r>
            <a:endParaRPr lang="en-US" sz="1400" dirty="0"/>
          </a:p>
        </p:txBody>
      </p:sp>
      <p:sp>
        <p:nvSpPr>
          <p:cNvPr id="6" name="Shape 4"/>
          <p:cNvSpPr/>
          <p:nvPr/>
        </p:nvSpPr>
        <p:spPr>
          <a:xfrm>
            <a:off x="2951460" y="1620490"/>
            <a:ext cx="2011660" cy="1175941"/>
          </a:xfrm>
          <a:prstGeom prst="roundRect">
            <a:avLst>
              <a:gd name="adj" fmla="val 8640"/>
            </a:avLst>
          </a:prstGeom>
          <a:solidFill>
            <a:srgbClr val="1B2840"/>
          </a:solidFill>
          <a:ln/>
        </p:spPr>
      </p:sp>
      <p:sp>
        <p:nvSpPr>
          <p:cNvPr id="7" name="Text 5"/>
          <p:cNvSpPr/>
          <p:nvPr/>
        </p:nvSpPr>
        <p:spPr>
          <a:xfrm>
            <a:off x="3129260" y="1823690"/>
            <a:ext cx="1706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060"/>
                </a:solidFill>
                <a:latin typeface="Courier New" pitchFamily="49" charset="0"/>
                <a:ea typeface="Courier New" pitchFamily="49" charset="-122"/>
                <a:cs typeface="Courier New" pitchFamily="49" charset="-120"/>
              </a:rPr>
              <a:t>SCA</a:t>
            </a:r>
            <a:endParaRPr lang="en-US" sz="1200" dirty="0"/>
          </a:p>
        </p:txBody>
      </p:sp>
      <p:sp>
        <p:nvSpPr>
          <p:cNvPr id="8" name="Text 6"/>
          <p:cNvSpPr/>
          <p:nvPr/>
        </p:nvSpPr>
        <p:spPr>
          <a:xfrm>
            <a:off x="3129260" y="2113211"/>
            <a:ext cx="170686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E0"/>
                </a:solidFill>
                <a:latin typeface="Arial" pitchFamily="34" charset="0"/>
                <a:ea typeface="Arial" pitchFamily="34" charset="-122"/>
                <a:cs typeface="Arial" pitchFamily="34" charset="-120"/>
              </a:rPr>
              <a:t>pip-audit and npm audit</a:t>
            </a:r>
            <a:endParaRPr lang="en-US" sz="1400" dirty="0"/>
          </a:p>
        </p:txBody>
      </p:sp>
      <p:sp>
        <p:nvSpPr>
          <p:cNvPr id="9" name="Shape 7"/>
          <p:cNvSpPr/>
          <p:nvPr/>
        </p:nvSpPr>
        <p:spPr>
          <a:xfrm>
            <a:off x="5090120" y="1620490"/>
            <a:ext cx="2011710" cy="1175941"/>
          </a:xfrm>
          <a:prstGeom prst="roundRect">
            <a:avLst>
              <a:gd name="adj" fmla="val 8640"/>
            </a:avLst>
          </a:prstGeom>
          <a:solidFill>
            <a:srgbClr val="1B2840"/>
          </a:solidFill>
          <a:ln/>
        </p:spPr>
      </p:sp>
      <p:sp>
        <p:nvSpPr>
          <p:cNvPr id="10" name="Text 8"/>
          <p:cNvSpPr/>
          <p:nvPr/>
        </p:nvSpPr>
        <p:spPr>
          <a:xfrm>
            <a:off x="5267920" y="1823690"/>
            <a:ext cx="17069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060"/>
                </a:solidFill>
                <a:latin typeface="Courier New" pitchFamily="49" charset="0"/>
                <a:ea typeface="Courier New" pitchFamily="49" charset="-122"/>
                <a:cs typeface="Courier New" pitchFamily="49" charset="-120"/>
              </a:rPr>
              <a:t>Secrets</a:t>
            </a:r>
            <a:endParaRPr lang="en-US" sz="1200" dirty="0"/>
          </a:p>
        </p:txBody>
      </p:sp>
      <p:sp>
        <p:nvSpPr>
          <p:cNvPr id="11" name="Text 9"/>
          <p:cNvSpPr/>
          <p:nvPr/>
        </p:nvSpPr>
        <p:spPr>
          <a:xfrm>
            <a:off x="5267920" y="2113211"/>
            <a:ext cx="170691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E0"/>
                </a:solidFill>
                <a:latin typeface="Arial" pitchFamily="34" charset="0"/>
                <a:ea typeface="Arial" pitchFamily="34" charset="-122"/>
                <a:cs typeface="Arial" pitchFamily="34" charset="-120"/>
              </a:rPr>
              <a:t>Gitleaks on the full history</a:t>
            </a:r>
            <a:endParaRPr lang="en-US" sz="1400" dirty="0"/>
          </a:p>
        </p:txBody>
      </p:sp>
      <p:sp>
        <p:nvSpPr>
          <p:cNvPr id="12" name="Shape 10"/>
          <p:cNvSpPr/>
          <p:nvPr/>
        </p:nvSpPr>
        <p:spPr>
          <a:xfrm>
            <a:off x="7228830" y="1620490"/>
            <a:ext cx="2011660" cy="1175941"/>
          </a:xfrm>
          <a:prstGeom prst="roundRect">
            <a:avLst>
              <a:gd name="adj" fmla="val 8640"/>
            </a:avLst>
          </a:prstGeom>
          <a:solidFill>
            <a:srgbClr val="1B2840"/>
          </a:solidFill>
          <a:ln/>
        </p:spPr>
      </p:sp>
      <p:sp>
        <p:nvSpPr>
          <p:cNvPr id="13" name="Text 11"/>
          <p:cNvSpPr/>
          <p:nvPr/>
        </p:nvSpPr>
        <p:spPr>
          <a:xfrm>
            <a:off x="7406630" y="1823690"/>
            <a:ext cx="1706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060"/>
                </a:solidFill>
                <a:latin typeface="Courier New" pitchFamily="49" charset="0"/>
                <a:ea typeface="Courier New" pitchFamily="49" charset="-122"/>
                <a:cs typeface="Courier New" pitchFamily="49" charset="-120"/>
              </a:rPr>
              <a:t>IaC</a:t>
            </a:r>
            <a:endParaRPr lang="en-US" sz="1200" dirty="0"/>
          </a:p>
        </p:txBody>
      </p:sp>
      <p:sp>
        <p:nvSpPr>
          <p:cNvPr id="14" name="Text 12"/>
          <p:cNvSpPr/>
          <p:nvPr/>
        </p:nvSpPr>
        <p:spPr>
          <a:xfrm>
            <a:off x="7406630" y="2113211"/>
            <a:ext cx="17068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E0"/>
                </a:solidFill>
                <a:latin typeface="Arial" pitchFamily="34" charset="0"/>
                <a:ea typeface="Arial" pitchFamily="34" charset="-122"/>
                <a:cs typeface="Arial" pitchFamily="34" charset="-120"/>
              </a:rPr>
              <a:t>Trivy config scan</a:t>
            </a:r>
            <a:endParaRPr lang="en-US" sz="1400" dirty="0"/>
          </a:p>
        </p:txBody>
      </p:sp>
      <p:sp>
        <p:nvSpPr>
          <p:cNvPr id="15" name="Shape 13"/>
          <p:cNvSpPr/>
          <p:nvPr/>
        </p:nvSpPr>
        <p:spPr>
          <a:xfrm>
            <a:off x="9367490" y="1620490"/>
            <a:ext cx="2011660" cy="1175941"/>
          </a:xfrm>
          <a:prstGeom prst="roundRect">
            <a:avLst>
              <a:gd name="adj" fmla="val 8640"/>
            </a:avLst>
          </a:prstGeom>
          <a:solidFill>
            <a:srgbClr val="1B2840"/>
          </a:solidFill>
          <a:ln/>
        </p:spPr>
      </p:sp>
      <p:sp>
        <p:nvSpPr>
          <p:cNvPr id="16" name="Text 14"/>
          <p:cNvSpPr/>
          <p:nvPr/>
        </p:nvSpPr>
        <p:spPr>
          <a:xfrm>
            <a:off x="9545290" y="1823690"/>
            <a:ext cx="1706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060"/>
                </a:solidFill>
                <a:latin typeface="Courier New" pitchFamily="49" charset="0"/>
                <a:ea typeface="Courier New" pitchFamily="49" charset="-122"/>
                <a:cs typeface="Courier New" pitchFamily="49" charset="-120"/>
              </a:rPr>
              <a:t>Images</a:t>
            </a:r>
            <a:endParaRPr lang="en-US" sz="1200" dirty="0"/>
          </a:p>
        </p:txBody>
      </p:sp>
      <p:sp>
        <p:nvSpPr>
          <p:cNvPr id="17" name="Text 15"/>
          <p:cNvSpPr/>
          <p:nvPr/>
        </p:nvSpPr>
        <p:spPr>
          <a:xfrm>
            <a:off x="9545290" y="2113211"/>
            <a:ext cx="170686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E0"/>
                </a:solidFill>
                <a:latin typeface="Arial" pitchFamily="34" charset="0"/>
                <a:ea typeface="Arial" pitchFamily="34" charset="-122"/>
                <a:cs typeface="Arial" pitchFamily="34" charset="-120"/>
              </a:rPr>
              <a:t>Trivy, fails on fixable HIGH or CRITICAL</a:t>
            </a:r>
            <a:endParaRPr lang="en-US" sz="1400" dirty="0"/>
          </a:p>
        </p:txBody>
      </p:sp>
      <p:sp>
        <p:nvSpPr>
          <p:cNvPr id="18" name="Text 16"/>
          <p:cNvSpPr/>
          <p:nvPr/>
        </p:nvSpPr>
        <p:spPr>
          <a:xfrm>
            <a:off x="812800" y="3101231"/>
            <a:ext cx="525856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Arial" pitchFamily="34" charset="0"/>
                <a:ea typeface="Arial" pitchFamily="34" charset="-122"/>
                <a:cs typeface="Arial" pitchFamily="34" charset="-120"/>
              </a:rPr>
              <a:t>The first Trivy run was clean</a:t>
            </a:r>
            <a:endParaRPr lang="en-US" sz="1600" dirty="0"/>
          </a:p>
        </p:txBody>
      </p:sp>
      <p:sp>
        <p:nvSpPr>
          <p:cNvPr id="19" name="Text 17"/>
          <p:cNvSpPr/>
          <p:nvPr/>
        </p:nvSpPr>
        <p:spPr>
          <a:xfrm>
            <a:off x="812800" y="3421261"/>
            <a:ext cx="525856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D3E0"/>
                </a:solidFill>
                <a:latin typeface="Arial" pitchFamily="34" charset="0"/>
                <a:ea typeface="Arial" pitchFamily="34" charset="-122"/>
                <a:cs typeface="Arial" pitchFamily="34" charset="-120"/>
              </a:rPr>
              <a:t>0 fixable HIGH or CRITICAL CVEs in the backend image (Debian 13.7, 87 OS packages plus the Python dependencies) and the frontend image (Alpine 3.24.2, 70 OS packages).</a:t>
            </a:r>
            <a:endParaRPr lang="en-US" sz="1400" dirty="0"/>
          </a:p>
        </p:txBody>
      </p:sp>
      <p:sp>
        <p:nvSpPr>
          <p:cNvPr id="20" name="Text 18"/>
          <p:cNvSpPr/>
          <p:nvPr/>
        </p:nvSpPr>
        <p:spPr>
          <a:xfrm>
            <a:off x="6273800" y="3101231"/>
            <a:ext cx="525856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Arial" pitchFamily="34" charset="0"/>
                <a:ea typeface="Arial" pitchFamily="34" charset="-122"/>
                <a:cs typeface="Arial" pitchFamily="34" charset="-120"/>
              </a:rPr>
              <a:t>The gate works when it should</a:t>
            </a:r>
            <a:endParaRPr lang="en-US" sz="1600" dirty="0"/>
          </a:p>
        </p:txBody>
      </p:sp>
      <p:sp>
        <p:nvSpPr>
          <p:cNvPr id="21" name="Text 19"/>
          <p:cNvSpPr/>
          <p:nvPr/>
        </p:nvSpPr>
        <p:spPr>
          <a:xfrm>
            <a:off x="6273800" y="3421261"/>
            <a:ext cx="525856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D3E0"/>
                </a:solidFill>
                <a:latin typeface="Arial" pitchFamily="34" charset="0"/>
                <a:ea typeface="Arial" pitchFamily="34" charset="-122"/>
                <a:cs typeface="Arial" pitchFamily="34" charset="-120"/>
              </a:rPr>
              <a:t>PR #7 added requests 2.31.0. pip-audit found 6 known vulnerabilities, the SCA job failed after 17 seconds, and no image was built.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92B"/>
                </a:solidFill>
                <a:latin typeface="Arial" pitchFamily="34" charset="0"/>
                <a:ea typeface="Arial" pitchFamily="34" charset="-122"/>
                <a:cs typeface="Arial" pitchFamily="34" charset="-120"/>
              </a:rPr>
              <a:t>Terraform: VPC and EKS on AWS</a:t>
            </a:r>
            <a:endParaRPr lang="en-US" sz="3600" dirty="0"/>
          </a:p>
        </p:txBody>
      </p:sp>
      <p:sp>
        <p:nvSpPr>
          <p:cNvPr id="3" name="Text 1"/>
          <p:cNvSpPr/>
          <p:nvPr/>
        </p:nvSpPr>
        <p:spPr>
          <a:xfrm>
            <a:off x="812800" y="1620490"/>
            <a:ext cx="470916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VPC</a:t>
            </a:r>
            <a:r>
              <a:rPr lang="en-US" sz="1400" dirty="0">
                <a:solidFill>
                  <a:srgbClr val="3E4A5C"/>
                </a:solidFill>
                <a:latin typeface="Arial" pitchFamily="34" charset="0"/>
                <a:ea typeface="Arial" pitchFamily="34" charset="-122"/>
                <a:cs typeface="Arial" pitchFamily="34" charset="-120"/>
              </a:rPr>
              <a:t> across 2 AZs in ap-south-1: 2 public and 2 private subnets, 1 NAT gateway</a:t>
            </a:r>
            <a:endParaRPr lang="en-US" sz="1400" dirty="0"/>
          </a:p>
        </p:txBody>
      </p:sp>
      <p:sp>
        <p:nvSpPr>
          <p:cNvPr id="4" name="Text 2"/>
          <p:cNvSpPr/>
          <p:nvPr/>
        </p:nvSpPr>
        <p:spPr>
          <a:xfrm>
            <a:off x="812800" y="2257971"/>
            <a:ext cx="470916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EKS 1.34</a:t>
            </a:r>
            <a:r>
              <a:rPr lang="en-US" sz="1400" dirty="0">
                <a:solidFill>
                  <a:srgbClr val="3E4A5C"/>
                </a:solidFill>
                <a:latin typeface="Arial" pitchFamily="34" charset="0"/>
                <a:ea typeface="Arial" pitchFamily="34" charset="-122"/>
                <a:cs typeface="Arial" pitchFamily="34" charset="-120"/>
              </a:rPr>
              <a:t> with a managed node group: 2 × m7i-flex.large, scaling to 4</a:t>
            </a:r>
            <a:endParaRPr lang="en-US" sz="1400" dirty="0"/>
          </a:p>
        </p:txBody>
      </p:sp>
      <p:sp>
        <p:nvSpPr>
          <p:cNvPr id="5" name="Text 3"/>
          <p:cNvSpPr/>
          <p:nvPr/>
        </p:nvSpPr>
        <p:spPr>
          <a:xfrm>
            <a:off x="812800" y="2895451"/>
            <a:ext cx="470916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Add-ons:</a:t>
            </a:r>
            <a:r>
              <a:rPr lang="en-US" sz="1400" dirty="0">
                <a:solidFill>
                  <a:srgbClr val="3E4A5C"/>
                </a:solidFill>
                <a:latin typeface="Arial" pitchFamily="34" charset="0"/>
                <a:ea typeface="Arial" pitchFamily="34" charset="-122"/>
                <a:cs typeface="Arial" pitchFamily="34" charset="-120"/>
              </a:rPr>
              <a:t> VPC CNI with NetworkPolicy, CoreDNS, kube-proxy, Pod Identity, EBS CSI</a:t>
            </a:r>
            <a:endParaRPr lang="en-US" sz="1400" dirty="0"/>
          </a:p>
        </p:txBody>
      </p:sp>
      <p:sp>
        <p:nvSpPr>
          <p:cNvPr id="6" name="Text 4"/>
          <p:cNvSpPr/>
          <p:nvPr/>
        </p:nvSpPr>
        <p:spPr>
          <a:xfrm>
            <a:off x="812800" y="3532932"/>
            <a:ext cx="47091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GitHub OIDC role</a:t>
            </a:r>
            <a:r>
              <a:rPr lang="en-US" sz="1400" dirty="0">
                <a:solidFill>
                  <a:srgbClr val="3E4A5C"/>
                </a:solidFill>
                <a:latin typeface="Arial" pitchFamily="34" charset="0"/>
                <a:ea typeface="Arial" pitchFamily="34" charset="-122"/>
                <a:cs typeface="Arial" pitchFamily="34" charset="-120"/>
              </a:rPr>
              <a:t> instead of stored AWS keys</a:t>
            </a:r>
            <a:endParaRPr lang="en-US" sz="1400" dirty="0"/>
          </a:p>
        </p:txBody>
      </p:sp>
      <p:sp>
        <p:nvSpPr>
          <p:cNvPr id="7" name="Text 5"/>
          <p:cNvSpPr/>
          <p:nvPr/>
        </p:nvSpPr>
        <p:spPr>
          <a:xfrm>
            <a:off x="812800" y="3921522"/>
            <a:ext cx="1625848" cy="365720"/>
          </a:xfrm>
          <a:prstGeom prst="roundRect">
            <a:avLst>
              <a:gd name="adj" fmla="val 20836"/>
            </a:avLst>
          </a:prstGeom>
          <a:solidFill>
            <a:srgbClr val="10192B"/>
          </a:solidFill>
          <a:ln/>
        </p:spPr>
        <p:txBody>
          <a:bodyPr wrap="none" lIns="0" tIns="0" rIns="0" bIns="0" rtlCol="0" anchor="ctr">
            <a:normAutofit/>
          </a:bodyPr>
          <a:lstStyle/>
          <a:p>
            <a:pPr algn="ctr" indent="0" marL="0">
              <a:lnSpc>
                <a:spcPts val="1680"/>
              </a:lnSpc>
              <a:buNone/>
            </a:pPr>
            <a:r>
              <a:rPr lang="en-US" sz="1200" dirty="0">
                <a:solidFill>
                  <a:srgbClr val="F4F2EC"/>
                </a:solidFill>
                <a:latin typeface="Courier New" pitchFamily="49" charset="0"/>
                <a:ea typeface="Courier New" pitchFamily="49" charset="-122"/>
                <a:cs typeface="Courier New" pitchFamily="49" charset="-120"/>
              </a:rPr>
              <a:t>plan: 64 to add</a:t>
            </a:r>
            <a:endParaRPr lang="en-US" sz="1200" dirty="0"/>
          </a:p>
        </p:txBody>
      </p:sp>
      <p:sp>
        <p:nvSpPr>
          <p:cNvPr id="8" name="Text 6"/>
          <p:cNvSpPr/>
          <p:nvPr/>
        </p:nvSpPr>
        <p:spPr>
          <a:xfrm>
            <a:off x="2540248" y="3921522"/>
            <a:ext cx="2174577" cy="365720"/>
          </a:xfrm>
          <a:prstGeom prst="roundRect">
            <a:avLst>
              <a:gd name="adj" fmla="val 20836"/>
            </a:avLst>
          </a:prstGeom>
          <a:solidFill>
            <a:srgbClr val="10192B"/>
          </a:solidFill>
          <a:ln/>
        </p:spPr>
        <p:txBody>
          <a:bodyPr wrap="none" lIns="0" tIns="0" rIns="0" bIns="0" rtlCol="0" anchor="ctr">
            <a:normAutofit/>
          </a:bodyPr>
          <a:lstStyle/>
          <a:p>
            <a:pPr algn="ctr" indent="0" marL="0">
              <a:lnSpc>
                <a:spcPts val="1680"/>
              </a:lnSpc>
              <a:buNone/>
            </a:pPr>
            <a:r>
              <a:rPr lang="en-US" sz="1200" dirty="0">
                <a:solidFill>
                  <a:srgbClr val="F4F2EC"/>
                </a:solidFill>
                <a:latin typeface="Courier New" pitchFamily="49" charset="0"/>
                <a:ea typeface="Courier New" pitchFamily="49" charset="-122"/>
                <a:cs typeface="Courier New" pitchFamily="49" charset="-120"/>
              </a:rPr>
              <a:t>destroy: 64 destroyed</a:t>
            </a:r>
            <a:endParaRPr lang="en-US" sz="1200" dirty="0"/>
          </a:p>
        </p:txBody>
      </p:sp>
      <p:sp>
        <p:nvSpPr>
          <p:cNvPr id="9" name="Shape 7"/>
          <p:cNvSpPr/>
          <p:nvPr/>
        </p:nvSpPr>
        <p:spPr>
          <a:xfrm>
            <a:off x="5740400" y="1620490"/>
            <a:ext cx="5638800" cy="3556000"/>
          </a:xfrm>
          <a:prstGeom prst="roundRect">
            <a:avLst>
              <a:gd name="adj" fmla="val 2857"/>
            </a:avLst>
          </a:prstGeom>
          <a:solidFill>
            <a:srgbClr val="10192B"/>
          </a:solidFill>
          <a:ln/>
        </p:spPr>
      </p:sp>
      <p:pic>
        <p:nvPicPr>
          <p:cNvPr id="10" name="Image 0" descr="AWS console showing the stockpilot-dev-eks cluster Active on Kubernetes 1.34">    </p:cNvPr>
          <p:cNvPicPr>
            <a:picLocks noChangeAspect="1"/>
          </p:cNvPicPr>
          <p:nvPr/>
        </p:nvPicPr>
        <p:blipFill>
          <a:blip r:embed="rId1"/>
          <a:srcRect l="0" r="0" t="-3850" b="-3850"/>
          <a:stretch/>
        </p:blipFill>
        <p:spPr>
          <a:xfrm>
            <a:off x="5867400" y="1747490"/>
            <a:ext cx="5384800" cy="3302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92B"/>
                </a:solidFill>
                <a:latin typeface="Arial" pitchFamily="34" charset="0"/>
                <a:ea typeface="Arial" pitchFamily="34" charset="-122"/>
                <a:cs typeface="Arial" pitchFamily="34" charset="-120"/>
              </a:rPr>
              <a:t>Kubernetes, packaged as one Helm chart</a:t>
            </a:r>
            <a:endParaRPr lang="en-US" sz="3600" dirty="0"/>
          </a:p>
        </p:txBody>
      </p:sp>
      <p:sp>
        <p:nvSpPr>
          <p:cNvPr id="3" name="Shape 1"/>
          <p:cNvSpPr/>
          <p:nvPr/>
        </p:nvSpPr>
        <p:spPr>
          <a:xfrm>
            <a:off x="815975" y="1623665"/>
            <a:ext cx="3431084" cy="1083221"/>
          </a:xfrm>
          <a:prstGeom prst="roundRect">
            <a:avLst>
              <a:gd name="adj" fmla="val 9086"/>
            </a:avLst>
          </a:prstGeom>
          <a:solidFill>
            <a:srgbClr val="FFFFFF"/>
          </a:solidFill>
          <a:ln w="6350">
            <a:solidFill>
              <a:srgbClr val="E1DDD3"/>
            </a:solidFill>
            <a:prstDash val="solid"/>
          </a:ln>
        </p:spPr>
      </p:sp>
      <p:sp>
        <p:nvSpPr>
          <p:cNvPr id="4" name="Text 2"/>
          <p:cNvSpPr/>
          <p:nvPr/>
        </p:nvSpPr>
        <p:spPr>
          <a:xfrm>
            <a:off x="996950" y="1804640"/>
            <a:ext cx="31612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Deployments</a:t>
            </a:r>
            <a:endParaRPr lang="en-US" sz="1600" dirty="0"/>
          </a:p>
        </p:txBody>
      </p:sp>
      <p:sp>
        <p:nvSpPr>
          <p:cNvPr id="5" name="Text 3"/>
          <p:cNvSpPr/>
          <p:nvPr/>
        </p:nvSpPr>
        <p:spPr>
          <a:xfrm>
            <a:off x="996950" y="2099270"/>
            <a:ext cx="31612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backend and frontend, 2 replicas each, rolling updates with no downtime</a:t>
            </a:r>
            <a:endParaRPr lang="en-US" sz="1200" dirty="0"/>
          </a:p>
        </p:txBody>
      </p:sp>
      <p:sp>
        <p:nvSpPr>
          <p:cNvPr id="6" name="Shape 4"/>
          <p:cNvSpPr/>
          <p:nvPr/>
        </p:nvSpPr>
        <p:spPr>
          <a:xfrm>
            <a:off x="4380409" y="1623665"/>
            <a:ext cx="3431133" cy="1083221"/>
          </a:xfrm>
          <a:prstGeom prst="roundRect">
            <a:avLst>
              <a:gd name="adj" fmla="val 9086"/>
            </a:avLst>
          </a:prstGeom>
          <a:solidFill>
            <a:srgbClr val="FFFFFF"/>
          </a:solidFill>
          <a:ln w="6350">
            <a:solidFill>
              <a:srgbClr val="E1DDD3"/>
            </a:solidFill>
            <a:prstDash val="solid"/>
          </a:ln>
        </p:spPr>
      </p:sp>
      <p:sp>
        <p:nvSpPr>
          <p:cNvPr id="7" name="Text 5"/>
          <p:cNvSpPr/>
          <p:nvPr/>
        </p:nvSpPr>
        <p:spPr>
          <a:xfrm>
            <a:off x="4561384" y="1804640"/>
            <a:ext cx="31612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Services</a:t>
            </a:r>
            <a:endParaRPr lang="en-US" sz="1600" dirty="0"/>
          </a:p>
        </p:txBody>
      </p:sp>
      <p:sp>
        <p:nvSpPr>
          <p:cNvPr id="8" name="Text 6"/>
          <p:cNvSpPr/>
          <p:nvPr/>
        </p:nvSpPr>
        <p:spPr>
          <a:xfrm>
            <a:off x="4561384" y="2099270"/>
            <a:ext cx="31612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ClusterIP for the backend, frontend and PostgreSQL</a:t>
            </a:r>
            <a:endParaRPr lang="en-US" sz="1200" dirty="0"/>
          </a:p>
        </p:txBody>
      </p:sp>
      <p:sp>
        <p:nvSpPr>
          <p:cNvPr id="9" name="Shape 7"/>
          <p:cNvSpPr/>
          <p:nvPr/>
        </p:nvSpPr>
        <p:spPr>
          <a:xfrm>
            <a:off x="7944892" y="1623665"/>
            <a:ext cx="3431084" cy="1083221"/>
          </a:xfrm>
          <a:prstGeom prst="roundRect">
            <a:avLst>
              <a:gd name="adj" fmla="val 9086"/>
            </a:avLst>
          </a:prstGeom>
          <a:solidFill>
            <a:srgbClr val="FFFFFF"/>
          </a:solidFill>
          <a:ln w="6350">
            <a:solidFill>
              <a:srgbClr val="E1DDD3"/>
            </a:solidFill>
            <a:prstDash val="solid"/>
          </a:ln>
        </p:spPr>
      </p:sp>
      <p:sp>
        <p:nvSpPr>
          <p:cNvPr id="10" name="Text 8"/>
          <p:cNvSpPr/>
          <p:nvPr/>
        </p:nvSpPr>
        <p:spPr>
          <a:xfrm>
            <a:off x="8125867" y="1804640"/>
            <a:ext cx="31612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Ingress</a:t>
            </a:r>
            <a:endParaRPr lang="en-US" sz="1600" dirty="0"/>
          </a:p>
        </p:txBody>
      </p:sp>
      <p:sp>
        <p:nvSpPr>
          <p:cNvPr id="11" name="Text 9"/>
          <p:cNvSpPr/>
          <p:nvPr/>
        </p:nvSpPr>
        <p:spPr>
          <a:xfrm>
            <a:off x="8125867" y="2099270"/>
            <a:ext cx="3161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 goes to the frontend, /api to the backend</a:t>
            </a:r>
            <a:endParaRPr lang="en-US" sz="1200" dirty="0"/>
          </a:p>
        </p:txBody>
      </p:sp>
      <p:sp>
        <p:nvSpPr>
          <p:cNvPr id="12" name="Shape 10"/>
          <p:cNvSpPr/>
          <p:nvPr/>
        </p:nvSpPr>
        <p:spPr>
          <a:xfrm>
            <a:off x="815975" y="2840236"/>
            <a:ext cx="3431084" cy="1083221"/>
          </a:xfrm>
          <a:prstGeom prst="roundRect">
            <a:avLst>
              <a:gd name="adj" fmla="val 9086"/>
            </a:avLst>
          </a:prstGeom>
          <a:solidFill>
            <a:srgbClr val="FFFFFF"/>
          </a:solidFill>
          <a:ln w="6350">
            <a:solidFill>
              <a:srgbClr val="E1DDD3"/>
            </a:solidFill>
            <a:prstDash val="solid"/>
          </a:ln>
        </p:spPr>
      </p:sp>
      <p:sp>
        <p:nvSpPr>
          <p:cNvPr id="13" name="Text 11"/>
          <p:cNvSpPr/>
          <p:nvPr/>
        </p:nvSpPr>
        <p:spPr>
          <a:xfrm>
            <a:off x="996950" y="3021211"/>
            <a:ext cx="31612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StatefulSet + PVC</a:t>
            </a:r>
            <a:endParaRPr lang="en-US" sz="1600" dirty="0"/>
          </a:p>
        </p:txBody>
      </p:sp>
      <p:sp>
        <p:nvSpPr>
          <p:cNvPr id="14" name="Text 12"/>
          <p:cNvSpPr/>
          <p:nvPr/>
        </p:nvSpPr>
        <p:spPr>
          <a:xfrm>
            <a:off x="996950" y="3315841"/>
            <a:ext cx="31612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PostgreSQL on a persistent volume (gp3 on EKS)</a:t>
            </a:r>
            <a:endParaRPr lang="en-US" sz="1200" dirty="0"/>
          </a:p>
        </p:txBody>
      </p:sp>
      <p:sp>
        <p:nvSpPr>
          <p:cNvPr id="15" name="Shape 13"/>
          <p:cNvSpPr/>
          <p:nvPr/>
        </p:nvSpPr>
        <p:spPr>
          <a:xfrm>
            <a:off x="4380409" y="2840236"/>
            <a:ext cx="3431133" cy="1083221"/>
          </a:xfrm>
          <a:prstGeom prst="roundRect">
            <a:avLst>
              <a:gd name="adj" fmla="val 9086"/>
            </a:avLst>
          </a:prstGeom>
          <a:solidFill>
            <a:srgbClr val="FFFFFF"/>
          </a:solidFill>
          <a:ln w="6350">
            <a:solidFill>
              <a:srgbClr val="E1DDD3"/>
            </a:solidFill>
            <a:prstDash val="solid"/>
          </a:ln>
        </p:spPr>
      </p:sp>
      <p:sp>
        <p:nvSpPr>
          <p:cNvPr id="16" name="Text 14"/>
          <p:cNvSpPr/>
          <p:nvPr/>
        </p:nvSpPr>
        <p:spPr>
          <a:xfrm>
            <a:off x="4561384" y="3021211"/>
            <a:ext cx="31612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ConfigMap + Secret</a:t>
            </a:r>
            <a:endParaRPr lang="en-US" sz="1600" dirty="0"/>
          </a:p>
        </p:txBody>
      </p:sp>
      <p:sp>
        <p:nvSpPr>
          <p:cNvPr id="17" name="Text 15"/>
          <p:cNvSpPr/>
          <p:nvPr/>
        </p:nvSpPr>
        <p:spPr>
          <a:xfrm>
            <a:off x="4561384" y="3315841"/>
            <a:ext cx="31612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settings in Git, the DB password generated in the cluster</a:t>
            </a:r>
            <a:endParaRPr lang="en-US" sz="1200" dirty="0"/>
          </a:p>
        </p:txBody>
      </p:sp>
      <p:sp>
        <p:nvSpPr>
          <p:cNvPr id="18" name="Shape 16"/>
          <p:cNvSpPr/>
          <p:nvPr/>
        </p:nvSpPr>
        <p:spPr>
          <a:xfrm>
            <a:off x="7944892" y="2840236"/>
            <a:ext cx="3431084" cy="1083221"/>
          </a:xfrm>
          <a:prstGeom prst="roundRect">
            <a:avLst>
              <a:gd name="adj" fmla="val 9086"/>
            </a:avLst>
          </a:prstGeom>
          <a:solidFill>
            <a:srgbClr val="FFFFFF"/>
          </a:solidFill>
          <a:ln w="6350">
            <a:solidFill>
              <a:srgbClr val="E1DDD3"/>
            </a:solidFill>
            <a:prstDash val="solid"/>
          </a:ln>
        </p:spPr>
      </p:sp>
      <p:sp>
        <p:nvSpPr>
          <p:cNvPr id="19" name="Text 17"/>
          <p:cNvSpPr/>
          <p:nvPr/>
        </p:nvSpPr>
        <p:spPr>
          <a:xfrm>
            <a:off x="8125867" y="3021211"/>
            <a:ext cx="31612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HPA</a:t>
            </a:r>
            <a:endParaRPr lang="en-US" sz="1600" dirty="0"/>
          </a:p>
        </p:txBody>
      </p:sp>
      <p:sp>
        <p:nvSpPr>
          <p:cNvPr id="20" name="Text 18"/>
          <p:cNvSpPr/>
          <p:nvPr/>
        </p:nvSpPr>
        <p:spPr>
          <a:xfrm>
            <a:off x="8125867" y="3315841"/>
            <a:ext cx="32469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scales the backend from 2 to 4 pods on CPU</a:t>
            </a:r>
            <a:endParaRPr lang="en-US" sz="1200" dirty="0"/>
          </a:p>
        </p:txBody>
      </p:sp>
      <p:sp>
        <p:nvSpPr>
          <p:cNvPr id="21" name="Shape 19"/>
          <p:cNvSpPr/>
          <p:nvPr/>
        </p:nvSpPr>
        <p:spPr>
          <a:xfrm>
            <a:off x="815975" y="4056807"/>
            <a:ext cx="3431084" cy="1083221"/>
          </a:xfrm>
          <a:prstGeom prst="roundRect">
            <a:avLst>
              <a:gd name="adj" fmla="val 9086"/>
            </a:avLst>
          </a:prstGeom>
          <a:solidFill>
            <a:srgbClr val="FFFFFF"/>
          </a:solidFill>
          <a:ln w="6350">
            <a:solidFill>
              <a:srgbClr val="E1DDD3"/>
            </a:solidFill>
            <a:prstDash val="solid"/>
          </a:ln>
        </p:spPr>
      </p:sp>
      <p:sp>
        <p:nvSpPr>
          <p:cNvPr id="22" name="Text 20"/>
          <p:cNvSpPr/>
          <p:nvPr/>
        </p:nvSpPr>
        <p:spPr>
          <a:xfrm>
            <a:off x="996950" y="4237782"/>
            <a:ext cx="31612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Probes</a:t>
            </a:r>
            <a:endParaRPr lang="en-US" sz="1600" dirty="0"/>
          </a:p>
        </p:txBody>
      </p:sp>
      <p:sp>
        <p:nvSpPr>
          <p:cNvPr id="23" name="Text 21"/>
          <p:cNvSpPr/>
          <p:nvPr/>
        </p:nvSpPr>
        <p:spPr>
          <a:xfrm>
            <a:off x="996950" y="4532412"/>
            <a:ext cx="31612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startup, liveness on /health, readiness on /ready</a:t>
            </a:r>
            <a:endParaRPr lang="en-US" sz="1200" dirty="0"/>
          </a:p>
        </p:txBody>
      </p:sp>
      <p:sp>
        <p:nvSpPr>
          <p:cNvPr id="24" name="Shape 22"/>
          <p:cNvSpPr/>
          <p:nvPr/>
        </p:nvSpPr>
        <p:spPr>
          <a:xfrm>
            <a:off x="4380409" y="4056807"/>
            <a:ext cx="3431133" cy="1083221"/>
          </a:xfrm>
          <a:prstGeom prst="roundRect">
            <a:avLst>
              <a:gd name="adj" fmla="val 9086"/>
            </a:avLst>
          </a:prstGeom>
          <a:solidFill>
            <a:srgbClr val="FFFFFF"/>
          </a:solidFill>
          <a:ln w="6350">
            <a:solidFill>
              <a:srgbClr val="E1DDD3"/>
            </a:solidFill>
            <a:prstDash val="solid"/>
          </a:ln>
        </p:spPr>
      </p:sp>
      <p:sp>
        <p:nvSpPr>
          <p:cNvPr id="25" name="Text 23"/>
          <p:cNvSpPr/>
          <p:nvPr/>
        </p:nvSpPr>
        <p:spPr>
          <a:xfrm>
            <a:off x="4561384" y="4237782"/>
            <a:ext cx="31612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92B"/>
                </a:solidFill>
                <a:latin typeface="Arial" pitchFamily="34" charset="0"/>
                <a:ea typeface="Arial" pitchFamily="34" charset="-122"/>
                <a:cs typeface="Arial" pitchFamily="34" charset="-120"/>
              </a:rPr>
              <a:t>NetworkPolicy</a:t>
            </a:r>
            <a:endParaRPr lang="en-US" sz="1600" dirty="0"/>
          </a:p>
        </p:txBody>
      </p:sp>
      <p:sp>
        <p:nvSpPr>
          <p:cNvPr id="26" name="Text 24"/>
          <p:cNvSpPr/>
          <p:nvPr/>
        </p:nvSpPr>
        <p:spPr>
          <a:xfrm>
            <a:off x="4561384" y="4532412"/>
            <a:ext cx="3161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only backend pods can reach PostgreSQL</a:t>
            </a:r>
            <a:endParaRPr lang="en-US" sz="1200" dirty="0"/>
          </a:p>
        </p:txBody>
      </p:sp>
      <p:sp>
        <p:nvSpPr>
          <p:cNvPr id="27" name="Shape 25"/>
          <p:cNvSpPr/>
          <p:nvPr/>
        </p:nvSpPr>
        <p:spPr>
          <a:xfrm>
            <a:off x="7941717" y="4053632"/>
            <a:ext cx="3437434" cy="1089571"/>
          </a:xfrm>
          <a:prstGeom prst="roundRect">
            <a:avLst>
              <a:gd name="adj" fmla="val 9325"/>
            </a:avLst>
          </a:prstGeom>
          <a:solidFill>
            <a:srgbClr val="10192B"/>
          </a:solidFill>
          <a:ln/>
        </p:spPr>
      </p:sp>
      <p:sp>
        <p:nvSpPr>
          <p:cNvPr id="28" name="Text 26"/>
          <p:cNvSpPr/>
          <p:nvPr/>
        </p:nvSpPr>
        <p:spPr>
          <a:xfrm>
            <a:off x="8119517" y="4231432"/>
            <a:ext cx="317428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Arial" pitchFamily="34" charset="0"/>
                <a:ea typeface="Arial" pitchFamily="34" charset="-122"/>
                <a:cs typeface="Arial" pitchFamily="34" charset="-120"/>
              </a:rPr>
              <a:t>helm test</a:t>
            </a:r>
            <a:endParaRPr lang="en-US" sz="1600" dirty="0"/>
          </a:p>
        </p:txBody>
      </p:sp>
      <p:sp>
        <p:nvSpPr>
          <p:cNvPr id="29" name="Text 27"/>
          <p:cNvSpPr/>
          <p:nvPr/>
        </p:nvSpPr>
        <p:spPr>
          <a:xfrm>
            <a:off x="8119517" y="4526062"/>
            <a:ext cx="31742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Arial" pitchFamily="34" charset="0"/>
                <a:ea typeface="Arial" pitchFamily="34" charset="-122"/>
                <a:cs typeface="Arial" pitchFamily="34" charset="-120"/>
              </a:rPr>
              <a:t>checks the release after every install, in CI and on the cluster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92B"/>
                </a:solidFill>
                <a:latin typeface="Arial" pitchFamily="34" charset="0"/>
                <a:ea typeface="Arial" pitchFamily="34" charset="-122"/>
                <a:cs typeface="Arial" pitchFamily="34" charset="-120"/>
              </a:rPr>
              <a:t>GitOps with Argo CD</a:t>
            </a:r>
            <a:endParaRPr lang="en-US" sz="3600" dirty="0"/>
          </a:p>
        </p:txBody>
      </p:sp>
      <p:sp>
        <p:nvSpPr>
          <p:cNvPr id="3" name="Text 1"/>
          <p:cNvSpPr/>
          <p:nvPr/>
        </p:nvSpPr>
        <p:spPr>
          <a:xfrm>
            <a:off x="812800" y="1620490"/>
            <a:ext cx="457835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App of apps:</a:t>
            </a:r>
            <a:r>
              <a:rPr lang="en-US" sz="1400" dirty="0">
                <a:solidFill>
                  <a:srgbClr val="3E4A5C"/>
                </a:solidFill>
                <a:latin typeface="Arial" pitchFamily="34" charset="0"/>
                <a:ea typeface="Arial" pitchFamily="34" charset="-122"/>
                <a:cs typeface="Arial" pitchFamily="34" charset="-120"/>
              </a:rPr>
              <a:t> one root application installs the monitoring stack, Loki, Alloy and StockPilot itself</a:t>
            </a:r>
            <a:endParaRPr lang="en-US" sz="1400" dirty="0"/>
          </a:p>
        </p:txBody>
      </p:sp>
      <p:sp>
        <p:nvSpPr>
          <p:cNvPr id="4" name="Text 2"/>
          <p:cNvSpPr/>
          <p:nvPr/>
        </p:nvSpPr>
        <p:spPr>
          <a:xfrm>
            <a:off x="812800" y="2257971"/>
            <a:ext cx="457835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CI never touches the cluster.</a:t>
            </a:r>
            <a:r>
              <a:rPr lang="en-US" sz="1400" dirty="0">
                <a:solidFill>
                  <a:srgbClr val="3E4A5C"/>
                </a:solidFill>
                <a:latin typeface="Arial" pitchFamily="34" charset="0"/>
                <a:ea typeface="Arial" pitchFamily="34" charset="-122"/>
                <a:cs typeface="Arial" pitchFamily="34" charset="-120"/>
              </a:rPr>
              <a:t> It commits the new image tag, and Argo CD pulls the change</a:t>
            </a:r>
            <a:endParaRPr lang="en-US" sz="1400" dirty="0"/>
          </a:p>
        </p:txBody>
      </p:sp>
      <p:sp>
        <p:nvSpPr>
          <p:cNvPr id="5" name="Text 3"/>
          <p:cNvSpPr/>
          <p:nvPr/>
        </p:nvSpPr>
        <p:spPr>
          <a:xfrm>
            <a:off x="812800" y="2895451"/>
            <a:ext cx="457835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Self-heal:</a:t>
            </a:r>
            <a:r>
              <a:rPr lang="en-US" sz="1400" dirty="0">
                <a:solidFill>
                  <a:srgbClr val="3E4A5C"/>
                </a:solidFill>
                <a:latin typeface="Arial" pitchFamily="34" charset="0"/>
                <a:ea typeface="Arial" pitchFamily="34" charset="-122"/>
                <a:cs typeface="Arial" pitchFamily="34" charset="-120"/>
              </a:rPr>
              <a:t> a manual kubectl change is reverted to what Git says</a:t>
            </a:r>
            <a:endParaRPr lang="en-US" sz="1400" dirty="0"/>
          </a:p>
        </p:txBody>
      </p:sp>
      <p:sp>
        <p:nvSpPr>
          <p:cNvPr id="6" name="Text 4"/>
          <p:cNvSpPr/>
          <p:nvPr/>
        </p:nvSpPr>
        <p:spPr>
          <a:xfrm>
            <a:off x="812800" y="3532932"/>
            <a:ext cx="457835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Rollback is git revert.</a:t>
            </a:r>
            <a:r>
              <a:rPr lang="en-US" sz="1400" dirty="0">
                <a:solidFill>
                  <a:srgbClr val="3E4A5C"/>
                </a:solidFill>
                <a:latin typeface="Arial" pitchFamily="34" charset="0"/>
                <a:ea typeface="Arial" pitchFamily="34" charset="-122"/>
                <a:cs typeface="Arial" pitchFamily="34" charset="-120"/>
              </a:rPr>
              <a:t> A bad tag merged in scenario 14 was back to Healthy within seconds of the revert</a:t>
            </a:r>
            <a:endParaRPr lang="en-US" sz="1400" dirty="0"/>
          </a:p>
        </p:txBody>
      </p:sp>
      <p:sp>
        <p:nvSpPr>
          <p:cNvPr id="7" name="Shape 5"/>
          <p:cNvSpPr/>
          <p:nvPr/>
        </p:nvSpPr>
        <p:spPr>
          <a:xfrm>
            <a:off x="5613400" y="1620490"/>
            <a:ext cx="5765800" cy="3683000"/>
          </a:xfrm>
          <a:prstGeom prst="roundRect">
            <a:avLst>
              <a:gd name="adj" fmla="val 2759"/>
            </a:avLst>
          </a:prstGeom>
          <a:solidFill>
            <a:srgbClr val="10192B"/>
          </a:solidFill>
          <a:ln/>
        </p:spPr>
      </p:sp>
      <p:pic>
        <p:nvPicPr>
          <p:cNvPr id="8" name="Image 0" descr="Argo CD showing all five applications Synced and Healthy">    </p:cNvPr>
          <p:cNvPicPr>
            <a:picLocks noChangeAspect="1"/>
          </p:cNvPicPr>
          <p:nvPr/>
        </p:nvPicPr>
        <p:blipFill>
          <a:blip r:embed="rId1"/>
          <a:srcRect l="-231" r="-231" t="0" b="0"/>
          <a:stretch/>
        </p:blipFill>
        <p:spPr>
          <a:xfrm>
            <a:off x="5740400" y="1747490"/>
            <a:ext cx="5511800" cy="3429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92B"/>
                </a:solidFill>
                <a:latin typeface="Arial" pitchFamily="34" charset="0"/>
                <a:ea typeface="Arial" pitchFamily="34" charset="-122"/>
                <a:cs typeface="Arial" pitchFamily="34" charset="-120"/>
              </a:rPr>
              <a:t>Observability</a:t>
            </a:r>
            <a:endParaRPr lang="en-US" sz="3600" dirty="0"/>
          </a:p>
        </p:txBody>
      </p:sp>
      <p:sp>
        <p:nvSpPr>
          <p:cNvPr id="3" name="Text 1"/>
          <p:cNvSpPr/>
          <p:nvPr/>
        </p:nvSpPr>
        <p:spPr>
          <a:xfrm>
            <a:off x="812800" y="1620490"/>
            <a:ext cx="418592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/metrics</a:t>
            </a:r>
            <a:r>
              <a:rPr lang="en-US" sz="1400" dirty="0">
                <a:solidFill>
                  <a:srgbClr val="3E4A5C"/>
                </a:solidFill>
                <a:latin typeface="Arial" pitchFamily="34" charset="0"/>
                <a:ea typeface="Arial" pitchFamily="34" charset="-122"/>
                <a:cs typeface="Arial" pitchFamily="34" charset="-120"/>
              </a:rPr>
              <a:t> on the backend: request rate, latency, errors and an inventory counter</a:t>
            </a:r>
            <a:endParaRPr lang="en-US" sz="1400" dirty="0"/>
          </a:p>
        </p:txBody>
      </p:sp>
      <p:sp>
        <p:nvSpPr>
          <p:cNvPr id="4" name="Text 2"/>
          <p:cNvSpPr/>
          <p:nvPr/>
        </p:nvSpPr>
        <p:spPr>
          <a:xfrm>
            <a:off x="812800" y="2257971"/>
            <a:ext cx="418592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Prometheus</a:t>
            </a:r>
            <a:r>
              <a:rPr lang="en-US" sz="1400" dirty="0">
                <a:solidFill>
                  <a:srgbClr val="3E4A5C"/>
                </a:solidFill>
                <a:latin typeface="Arial" pitchFamily="34" charset="0"/>
                <a:ea typeface="Arial" pitchFamily="34" charset="-122"/>
                <a:cs typeface="Arial" pitchFamily="34" charset="-120"/>
              </a:rPr>
              <a:t> finds it through a ServiceMonitor</a:t>
            </a:r>
            <a:endParaRPr lang="en-US" sz="1400" dirty="0"/>
          </a:p>
        </p:txBody>
      </p:sp>
      <p:sp>
        <p:nvSpPr>
          <p:cNvPr id="5" name="Text 3"/>
          <p:cNvSpPr/>
          <p:nvPr/>
        </p:nvSpPr>
        <p:spPr>
          <a:xfrm>
            <a:off x="812800" y="2646561"/>
            <a:ext cx="418592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Grafana dashboard</a:t>
            </a:r>
            <a:r>
              <a:rPr lang="en-US" sz="1400" dirty="0">
                <a:solidFill>
                  <a:srgbClr val="3E4A5C"/>
                </a:solidFill>
                <a:latin typeface="Arial" pitchFamily="34" charset="0"/>
                <a:ea typeface="Arial" pitchFamily="34" charset="-122"/>
                <a:cs typeface="Arial" pitchFamily="34" charset="-120"/>
              </a:rPr>
              <a:t> and 5 alert rules ship with the Helm chart</a:t>
            </a:r>
            <a:endParaRPr lang="en-US" sz="1400" dirty="0"/>
          </a:p>
        </p:txBody>
      </p:sp>
      <p:sp>
        <p:nvSpPr>
          <p:cNvPr id="6" name="Text 4"/>
          <p:cNvSpPr/>
          <p:nvPr/>
        </p:nvSpPr>
        <p:spPr>
          <a:xfrm>
            <a:off x="812800" y="3284041"/>
            <a:ext cx="418592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Arial" pitchFamily="34" charset="0"/>
                <a:ea typeface="Arial" pitchFamily="34" charset="-122"/>
                <a:cs typeface="Arial" pitchFamily="34" charset="-120"/>
              </a:rPr>
              <a:t>Loki and Alloy</a:t>
            </a:r>
            <a:r>
              <a:rPr lang="en-US" sz="1400" dirty="0">
                <a:solidFill>
                  <a:srgbClr val="3E4A5C"/>
                </a:solidFill>
                <a:latin typeface="Arial" pitchFamily="34" charset="0"/>
                <a:ea typeface="Arial" pitchFamily="34" charset="-122"/>
                <a:cs typeface="Arial" pitchFamily="34" charset="-120"/>
              </a:rPr>
              <a:t> collect the JSON logs from every pod</a:t>
            </a:r>
            <a:endParaRPr lang="en-US" sz="1400" dirty="0"/>
          </a:p>
        </p:txBody>
      </p:sp>
      <p:sp>
        <p:nvSpPr>
          <p:cNvPr id="7" name="Shape 5"/>
          <p:cNvSpPr/>
          <p:nvPr/>
        </p:nvSpPr>
        <p:spPr>
          <a:xfrm>
            <a:off x="5232400" y="1620490"/>
            <a:ext cx="6146800" cy="3937000"/>
          </a:xfrm>
          <a:prstGeom prst="roundRect">
            <a:avLst>
              <a:gd name="adj" fmla="val 2581"/>
            </a:avLst>
          </a:prstGeom>
          <a:solidFill>
            <a:srgbClr val="10192B"/>
          </a:solidFill>
          <a:ln/>
        </p:spPr>
      </p:sp>
      <p:pic>
        <p:nvPicPr>
          <p:cNvPr id="8" name="Image 0" descr="Grafana StockPilot dashboard with request, latency and resource panels during a load test">    </p:cNvPr>
          <p:cNvPicPr>
            <a:picLocks noChangeAspect="1"/>
          </p:cNvPicPr>
          <p:nvPr/>
        </p:nvPicPr>
        <p:blipFill>
          <a:blip r:embed="rId1"/>
          <a:srcRect l="-37778" r="-37778" t="0" b="0"/>
          <a:stretch/>
        </p:blipFill>
        <p:spPr>
          <a:xfrm>
            <a:off x="5359400" y="1747490"/>
            <a:ext cx="5892800" cy="3683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92B"/>
                </a:solidFill>
                <a:latin typeface="Arial" pitchFamily="34" charset="0"/>
                <a:ea typeface="Arial" pitchFamily="34" charset="-122"/>
                <a:cs typeface="Arial" pitchFamily="34" charset="-120"/>
              </a:rPr>
              <a:t>Breaking it on purpose: 14 faults</a:t>
            </a:r>
            <a:endParaRPr lang="en-US" sz="3600" dirty="0"/>
          </a:p>
        </p:txBody>
      </p:sp>
      <p:sp>
        <p:nvSpPr>
          <p:cNvPr id="3" name="Text 1"/>
          <p:cNvSpPr/>
          <p:nvPr/>
        </p:nvSpPr>
        <p:spPr>
          <a:xfrm>
            <a:off x="812800" y="141729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Arial" pitchFamily="34" charset="0"/>
                <a:ea typeface="Arial" pitchFamily="34" charset="-122"/>
                <a:cs typeface="Arial" pitchFamily="34" charset="-120"/>
              </a:rPr>
              <a:t>Each one: identify, investigate, root cause, fix, verify. Real output for all 14 is in docs/TROUBLESHOOTING-LOG.md.</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32880"/>
          <a:ext cx="10553700" cy="2328763"/>
        </p:xfrm>
        <a:graphic>
          <a:graphicData uri="http://schemas.openxmlformats.org/drawingml/2006/table">
            <a:tbl>
              <a:tblPr/>
              <a:tblGrid>
                <a:gridCol w="2321814"/>
                <a:gridCol w="3799332"/>
                <a:gridCol w="4432554"/>
              </a:tblGrid>
              <a:tr h="332680">
                <a:tc>
                  <a:txBody>
                    <a:bodyPr/>
                    <a:lstStyle/>
                    <a:p>
                      <a:pPr indent="0" marL="0">
                        <a:lnSpc>
                          <a:spcPts val="1680"/>
                        </a:lnSpc>
                        <a:buNone/>
                      </a:pPr>
                      <a:r>
                        <a:rPr lang="en-US" sz="1200" b="1" dirty="0">
                          <a:solidFill>
                            <a:srgbClr val="10192B"/>
                          </a:solidFill>
                          <a:latin typeface="Arial" pitchFamily="34" charset="0"/>
                          <a:ea typeface="Arial" pitchFamily="34" charset="-122"/>
                          <a:cs typeface="Arial" pitchFamily="34" charset="-120"/>
                        </a:rPr>
                        <a:t>Fault</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10192B"/>
                          </a:solidFill>
                          <a:latin typeface="Arial" pitchFamily="34" charset="0"/>
                          <a:ea typeface="Arial" pitchFamily="34" charset="-122"/>
                          <a:cs typeface="Arial" pitchFamily="34" charset="-120"/>
                        </a:rPr>
                        <a:t>What I saw</a:t>
                      </a:r>
                      <a:endParaRPr lang="en-US" sz="1200" dirty="0">
                        <a:latin typeface="Arial" charset="0"/>
                        <a:ea typeface="Arial" charset="0"/>
                        <a:cs typeface="Arial" charset="0"/>
                      </a:endParaRPr>
                    </a:p>
                  </a:txBody>
                  <a:tcPr marL="53340" marR="53340" marT="53340" marB="5334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10192B"/>
                          </a:solidFill>
                          <a:latin typeface="Arial" pitchFamily="34" charset="0"/>
                          <a:ea typeface="Arial" pitchFamily="34" charset="-122"/>
                          <a:cs typeface="Arial" pitchFamily="34" charset="-120"/>
                        </a:rPr>
                        <a:t>What fixed it</a:t>
                      </a:r>
                      <a:endParaRPr lang="en-US" sz="1200" dirty="0">
                        <a:latin typeface="Arial" charset="0"/>
                        <a:ea typeface="Arial" charset="0"/>
                        <a:cs typeface="Arial" charset="0"/>
                      </a:endParaRPr>
                    </a:p>
                  </a:txBody>
                  <a:tcPr marL="53340" marR="53340" marT="53340" marB="5334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32680">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03 Wrong Secret key</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Postgres in CreateContainerConfigError</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Fix the template, then delete the stuck pod</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02 ConfigMap typo</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Nothing, until the pods restarted</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Fix the ConfigMap, then rollout restart</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2680">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06 Memory limit 24Mi</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OOMKilled, exit code 137, in seconds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Back to 256Mi (healthy pods use 64 to 72Mi)</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10 NetworkPolicy</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Running pods fine, new pods time out</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Allow app: backend again</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2680">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13 Leaked token</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Caught by Gitleaks and by ruff S105</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Amend the commit, read the token from env</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14 Bad GitOps tag</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Progressing for 10 minutes, then Degraded</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0192B"/>
                          </a:solidFill>
                          <a:latin typeface="Arial" pitchFamily="34" charset="0"/>
                          <a:ea typeface="Arial" pitchFamily="34" charset="-122"/>
                          <a:cs typeface="Arial" pitchFamily="34" charset="-120"/>
                        </a:rPr>
                        <a:t>git revert, Healthy again in seconds</a:t>
                      </a:r>
                      <a:endParaRPr lang="en-US" sz="1200" dirty="0">
                        <a:latin typeface="Arial" charset="0"/>
                        <a:ea typeface="Arial" charset="0"/>
                        <a:cs typeface="Arial" charset="0"/>
                      </a:endParaRPr>
                    </a:p>
                  </a:txBody>
                  <a:tcPr marL="53340" marR="53340" marT="53340" marB="5334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07A2E"/>
        </a:solidFill>
      </p:bgPr>
    </p:bg>
    <p:spTree>
      <p:nvGrpSpPr>
        <p:cNvPr id="1" name=""/>
        <p:cNvGrpSpPr/>
        <p:nvPr/>
      </p:nvGrpSpPr>
      <p:grpSpPr>
        <a:xfrm>
          <a:off x="0" y="0"/>
          <a:ext cx="0" cy="0"/>
          <a:chOff x="0" y="0"/>
          <a:chExt cx="0" cy="0"/>
        </a:xfrm>
      </p:grpSpPr>
      <p:sp>
        <p:nvSpPr>
          <p:cNvPr id="2" name="Text 0"/>
          <p:cNvSpPr/>
          <p:nvPr>
            <p:ph type="title"/>
          </p:nvPr>
        </p:nvSpPr>
        <p:spPr>
          <a:xfrm>
            <a:off x="812800" y="204475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92B"/>
                </a:solidFill>
                <a:latin typeface="Arial" pitchFamily="34" charset="0"/>
                <a:ea typeface="Arial" pitchFamily="34" charset="-122"/>
                <a:cs typeface="Arial" pitchFamily="34" charset="-120"/>
              </a:rPr>
              <a:t>What I learned</a:t>
            </a:r>
            <a:endParaRPr lang="en-US" sz="3600" dirty="0"/>
          </a:p>
        </p:txBody>
      </p:sp>
      <p:sp>
        <p:nvSpPr>
          <p:cNvPr id="3" name="Text 1"/>
          <p:cNvSpPr/>
          <p:nvPr/>
        </p:nvSpPr>
        <p:spPr>
          <a:xfrm>
            <a:off x="812800" y="290324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0192B"/>
                </a:solidFill>
                <a:latin typeface="Arial" pitchFamily="34" charset="0"/>
                <a:ea typeface="Arial" pitchFamily="34" charset="-122"/>
                <a:cs typeface="Arial" pitchFamily="34" charset="-120"/>
              </a:rPr>
              <a:t>A check only protects anything if the build depends on it.</a:t>
            </a:r>
            <a:endParaRPr lang="en-US" sz="2200" dirty="0"/>
          </a:p>
        </p:txBody>
      </p:sp>
      <p:sp>
        <p:nvSpPr>
          <p:cNvPr id="4" name="Text 2"/>
          <p:cNvSpPr/>
          <p:nvPr/>
        </p:nvSpPr>
        <p:spPr>
          <a:xfrm>
            <a:off x="812800" y="349503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0192B"/>
                </a:solidFill>
                <a:latin typeface="Arial" pitchFamily="34" charset="0"/>
                <a:ea typeface="Arial" pitchFamily="34" charset="-122"/>
                <a:cs typeface="Arial" pitchFamily="34" charset="-120"/>
              </a:rPr>
              <a:t>“Synced” doesn’t mean “working”: watch health, not just sync.</a:t>
            </a:r>
            <a:endParaRPr lang="en-US" sz="2200" dirty="0"/>
          </a:p>
        </p:txBody>
      </p:sp>
      <p:sp>
        <p:nvSpPr>
          <p:cNvPr id="5" name="Text 3"/>
          <p:cNvSpPr/>
          <p:nvPr/>
        </p:nvSpPr>
        <p:spPr>
          <a:xfrm>
            <a:off x="812800" y="4086820"/>
            <a:ext cx="10883392"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0192B"/>
                </a:solidFill>
                <a:latin typeface="Arial" pitchFamily="34" charset="0"/>
                <a:ea typeface="Arial" pitchFamily="34" charset="-122"/>
                <a:cs typeface="Arial" pitchFamily="34" charset="-120"/>
              </a:rPr>
              <a:t>Terraform doesn’t know what Kubernetes creates in AWS, so clean that up before you destroy.</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9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2EC"/>
                </a:solidFill>
                <a:latin typeface="Arial" pitchFamily="34" charset="0"/>
                <a:ea typeface="Arial" pitchFamily="34" charset="-122"/>
                <a:cs typeface="Arial" pitchFamily="34" charset="-120"/>
              </a:rPr>
              <a:t>Live walkthrough</a:t>
            </a:r>
            <a:endParaRPr lang="en-US" sz="3600" dirty="0"/>
          </a:p>
        </p:txBody>
      </p:sp>
      <p:sp>
        <p:nvSpPr>
          <p:cNvPr id="3" name="Text 1"/>
          <p:cNvSpPr/>
          <p:nvPr/>
        </p:nvSpPr>
        <p:spPr>
          <a:xfrm>
            <a:off x="812800" y="1671290"/>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A060"/>
                </a:solidFill>
                <a:latin typeface="Courier New" pitchFamily="49" charset="0"/>
                <a:ea typeface="Courier New" pitchFamily="49" charset="-122"/>
                <a:cs typeface="Courier New" pitchFamily="49" charset="-120"/>
              </a:rPr>
              <a:t>01</a:t>
            </a:r>
            <a:endParaRPr lang="en-US" sz="1600" dirty="0"/>
          </a:p>
        </p:txBody>
      </p:sp>
      <p:sp>
        <p:nvSpPr>
          <p:cNvPr id="4" name="Text 2"/>
          <p:cNvSpPr/>
          <p:nvPr/>
        </p:nvSpPr>
        <p:spPr>
          <a:xfrm>
            <a:off x="1371600" y="1671290"/>
            <a:ext cx="486613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2EC"/>
                </a:solidFill>
                <a:latin typeface="Arial" pitchFamily="34" charset="0"/>
                <a:ea typeface="Arial" pitchFamily="34" charset="-122"/>
                <a:cs typeface="Arial" pitchFamily="34" charset="-120"/>
              </a:rPr>
              <a:t>Codebase: folder structure and key files</a:t>
            </a:r>
            <a:endParaRPr lang="en-US" sz="1600" dirty="0"/>
          </a:p>
        </p:txBody>
      </p:sp>
      <p:sp>
        <p:nvSpPr>
          <p:cNvPr id="5" name="Text 3"/>
          <p:cNvSpPr/>
          <p:nvPr/>
        </p:nvSpPr>
        <p:spPr>
          <a:xfrm>
            <a:off x="6096000" y="1671290"/>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A060"/>
                </a:solidFill>
                <a:latin typeface="Courier New" pitchFamily="49" charset="0"/>
                <a:ea typeface="Courier New" pitchFamily="49" charset="-122"/>
                <a:cs typeface="Courier New" pitchFamily="49" charset="-120"/>
              </a:rPr>
              <a:t>05</a:t>
            </a:r>
            <a:endParaRPr lang="en-US" sz="1600" dirty="0"/>
          </a:p>
        </p:txBody>
      </p:sp>
      <p:sp>
        <p:nvSpPr>
          <p:cNvPr id="6" name="Text 4"/>
          <p:cNvSpPr/>
          <p:nvPr/>
        </p:nvSpPr>
        <p:spPr>
          <a:xfrm>
            <a:off x="6654800" y="1671290"/>
            <a:ext cx="486613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2EC"/>
                </a:solidFill>
                <a:latin typeface="Arial" pitchFamily="34" charset="0"/>
                <a:ea typeface="Arial" pitchFamily="34" charset="-122"/>
                <a:cs typeface="Arial" pitchFamily="34" charset="-120"/>
              </a:rPr>
              <a:t>Kubernetes: pods, services and ingress</a:t>
            </a:r>
            <a:endParaRPr lang="en-US" sz="1600" dirty="0"/>
          </a:p>
        </p:txBody>
      </p:sp>
      <p:sp>
        <p:nvSpPr>
          <p:cNvPr id="7" name="Text 5"/>
          <p:cNvSpPr/>
          <p:nvPr/>
        </p:nvSpPr>
        <p:spPr>
          <a:xfrm>
            <a:off x="812800" y="1955750"/>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A060"/>
                </a:solidFill>
                <a:latin typeface="Courier New" pitchFamily="49" charset="0"/>
                <a:ea typeface="Courier New" pitchFamily="49" charset="-122"/>
                <a:cs typeface="Courier New" pitchFamily="49" charset="-120"/>
              </a:rPr>
              <a:t>02</a:t>
            </a:r>
            <a:endParaRPr lang="en-US" sz="1600" dirty="0"/>
          </a:p>
        </p:txBody>
      </p:sp>
      <p:sp>
        <p:nvSpPr>
          <p:cNvPr id="8" name="Text 6"/>
          <p:cNvSpPr/>
          <p:nvPr/>
        </p:nvSpPr>
        <p:spPr>
          <a:xfrm>
            <a:off x="1371600" y="1955750"/>
            <a:ext cx="486613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2EC"/>
                </a:solidFill>
                <a:latin typeface="Arial" pitchFamily="34" charset="0"/>
                <a:ea typeface="Arial" pitchFamily="34" charset="-122"/>
                <a:cs typeface="Arial" pitchFamily="34" charset="-120"/>
              </a:rPr>
              <a:t>CI/CD: push a change, watch the pipeline</a:t>
            </a:r>
            <a:endParaRPr lang="en-US" sz="1600" dirty="0"/>
          </a:p>
        </p:txBody>
      </p:sp>
      <p:sp>
        <p:nvSpPr>
          <p:cNvPr id="9" name="Text 7"/>
          <p:cNvSpPr/>
          <p:nvPr/>
        </p:nvSpPr>
        <p:spPr>
          <a:xfrm>
            <a:off x="6096000" y="1955750"/>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A060"/>
                </a:solidFill>
                <a:latin typeface="Courier New" pitchFamily="49" charset="0"/>
                <a:ea typeface="Courier New" pitchFamily="49" charset="-122"/>
                <a:cs typeface="Courier New" pitchFamily="49" charset="-120"/>
              </a:rPr>
              <a:t>06</a:t>
            </a:r>
            <a:endParaRPr lang="en-US" sz="1600" dirty="0"/>
          </a:p>
        </p:txBody>
      </p:sp>
      <p:sp>
        <p:nvSpPr>
          <p:cNvPr id="10" name="Text 8"/>
          <p:cNvSpPr/>
          <p:nvPr/>
        </p:nvSpPr>
        <p:spPr>
          <a:xfrm>
            <a:off x="6654800" y="1955750"/>
            <a:ext cx="486613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2EC"/>
                </a:solidFill>
                <a:latin typeface="Arial" pitchFamily="34" charset="0"/>
                <a:ea typeface="Arial" pitchFamily="34" charset="-122"/>
                <a:cs typeface="Arial" pitchFamily="34" charset="-120"/>
              </a:rPr>
              <a:t>Prometheus: the app’s target UP</a:t>
            </a:r>
            <a:endParaRPr lang="en-US" sz="1600" dirty="0"/>
          </a:p>
        </p:txBody>
      </p:sp>
      <p:sp>
        <p:nvSpPr>
          <p:cNvPr id="11" name="Text 9"/>
          <p:cNvSpPr/>
          <p:nvPr/>
        </p:nvSpPr>
        <p:spPr>
          <a:xfrm>
            <a:off x="812800" y="224021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A060"/>
                </a:solidFill>
                <a:latin typeface="Courier New" pitchFamily="49" charset="0"/>
                <a:ea typeface="Courier New" pitchFamily="49" charset="-122"/>
                <a:cs typeface="Courier New" pitchFamily="49" charset="-120"/>
              </a:rPr>
              <a:t>03</a:t>
            </a:r>
            <a:endParaRPr lang="en-US" sz="1600" dirty="0"/>
          </a:p>
        </p:txBody>
      </p:sp>
      <p:sp>
        <p:nvSpPr>
          <p:cNvPr id="12" name="Text 10"/>
          <p:cNvSpPr/>
          <p:nvPr/>
        </p:nvSpPr>
        <p:spPr>
          <a:xfrm>
            <a:off x="1371600" y="2240211"/>
            <a:ext cx="4866132"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2EC"/>
                </a:solidFill>
                <a:latin typeface="Arial" pitchFamily="34" charset="0"/>
                <a:ea typeface="Arial" pitchFamily="34" charset="-122"/>
                <a:cs typeface="Arial" pitchFamily="34" charset="-120"/>
              </a:rPr>
              <a:t>Terraform: plan output, VPC and EKS in the AWS console</a:t>
            </a:r>
            <a:endParaRPr lang="en-US" sz="1600" dirty="0"/>
          </a:p>
        </p:txBody>
      </p:sp>
      <p:sp>
        <p:nvSpPr>
          <p:cNvPr id="13" name="Text 11"/>
          <p:cNvSpPr/>
          <p:nvPr/>
        </p:nvSpPr>
        <p:spPr>
          <a:xfrm>
            <a:off x="6096000" y="224021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A060"/>
                </a:solidFill>
                <a:latin typeface="Courier New" pitchFamily="49" charset="0"/>
                <a:ea typeface="Courier New" pitchFamily="49" charset="-122"/>
                <a:cs typeface="Courier New" pitchFamily="49" charset="-120"/>
              </a:rPr>
              <a:t>07</a:t>
            </a:r>
            <a:endParaRPr lang="en-US" sz="1600" dirty="0"/>
          </a:p>
        </p:txBody>
      </p:sp>
      <p:sp>
        <p:nvSpPr>
          <p:cNvPr id="14" name="Text 12"/>
          <p:cNvSpPr/>
          <p:nvPr/>
        </p:nvSpPr>
        <p:spPr>
          <a:xfrm>
            <a:off x="6654800" y="2240211"/>
            <a:ext cx="486613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2EC"/>
                </a:solidFill>
                <a:latin typeface="Arial" pitchFamily="34" charset="0"/>
                <a:ea typeface="Arial" pitchFamily="34" charset="-122"/>
                <a:cs typeface="Arial" pitchFamily="34" charset="-120"/>
              </a:rPr>
              <a:t>Grafana: live dashboard with app metrics</a:t>
            </a:r>
            <a:endParaRPr lang="en-US" sz="1600" dirty="0"/>
          </a:p>
        </p:txBody>
      </p:sp>
      <p:sp>
        <p:nvSpPr>
          <p:cNvPr id="15" name="Text 13"/>
          <p:cNvSpPr/>
          <p:nvPr/>
        </p:nvSpPr>
        <p:spPr>
          <a:xfrm>
            <a:off x="812800" y="278879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A060"/>
                </a:solidFill>
                <a:latin typeface="Courier New" pitchFamily="49" charset="0"/>
                <a:ea typeface="Courier New" pitchFamily="49" charset="-122"/>
                <a:cs typeface="Courier New" pitchFamily="49" charset="-120"/>
              </a:rPr>
              <a:t>04</a:t>
            </a:r>
            <a:endParaRPr lang="en-US" sz="1600" dirty="0"/>
          </a:p>
        </p:txBody>
      </p:sp>
      <p:sp>
        <p:nvSpPr>
          <p:cNvPr id="16" name="Text 14"/>
          <p:cNvSpPr/>
          <p:nvPr/>
        </p:nvSpPr>
        <p:spPr>
          <a:xfrm>
            <a:off x="1371600" y="2788791"/>
            <a:ext cx="486613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2EC"/>
                </a:solidFill>
                <a:latin typeface="Arial" pitchFamily="34" charset="0"/>
                <a:ea typeface="Arial" pitchFamily="34" charset="-122"/>
                <a:cs typeface="Arial" pitchFamily="34" charset="-120"/>
              </a:rPr>
              <a:t>Argo CD: the new commit synced, GitOps flow</a:t>
            </a:r>
            <a:endParaRPr lang="en-US" sz="1600" dirty="0"/>
          </a:p>
        </p:txBody>
      </p:sp>
    </p:spTree>
  </p:cSld>
  <p:clrMapOvr>
    <a:masterClrMapping/>
  </p:clrMapOvr>
</p:sld>
</file>

<file path=ppt/theme/theme1.xml><?xml version="1.0" encoding="utf-8"?>
<a:theme xmlns:a="http://schemas.openxmlformats.org/drawingml/2006/main" name="StockPilot DevOps Capstone">
  <a:themeElements>
    <a:clrScheme name="StockPilot DevOps Capstone">
      <a:dk1>
        <a:srgbClr val="3E4A5C"/>
      </a:dk1>
      <a:lt1>
        <a:srgbClr val="F4F2EC"/>
      </a:lt1>
      <a:dk2>
        <a:srgbClr val="6C7480"/>
      </a:dk2>
      <a:lt2>
        <a:srgbClr val="E2E1DE"/>
      </a:lt2>
      <a:accent1>
        <a:srgbClr val="B85A12"/>
      </a:accent1>
      <a:accent2>
        <a:srgbClr val="F0A060"/>
      </a:accent2>
      <a:accent3>
        <a:srgbClr val="E07A2E"/>
      </a:accent3>
      <a:accent4>
        <a:srgbClr val="10192B"/>
      </a:accent4>
      <a:accent5>
        <a:srgbClr val="C9D3E0"/>
      </a:accent5>
      <a:accent6>
        <a:srgbClr val="1B2840"/>
      </a:accent6>
      <a:hlink>
        <a:srgbClr val="0563C1"/>
      </a:hlink>
      <a:folHlink>
        <a:srgbClr val="954F72"/>
      </a:folHlink>
    </a:clrScheme>
    <a:fontScheme name="StockPilot DevOps Capsto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DevOps Capstone</dc:title>
  <dc:subject/>
  <dc:creator/>
  <cp:lastModifiedBy/>
  <cp:revision>1</cp:revision>
  <dcterms:created xsi:type="dcterms:W3CDTF">2026-10-16T18:05:58Z</dcterms:created>
  <dcterms:modified xsi:type="dcterms:W3CDTF">2026-10-16T18:05:58Z</dcterms:modified>
</cp:coreProperties>
</file>